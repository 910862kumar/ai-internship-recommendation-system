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0"/>
  </p:notesMasterIdLst>
  <p:sldIdLst>
    <p:sldId id="256" r:id="rId2"/>
    <p:sldId id="286" r:id="rId3"/>
    <p:sldId id="269" r:id="rId4"/>
    <p:sldId id="275" r:id="rId5"/>
    <p:sldId id="257" r:id="rId6"/>
    <p:sldId id="274" r:id="rId7"/>
    <p:sldId id="277" r:id="rId8"/>
    <p:sldId id="288" r:id="rId9"/>
    <p:sldId id="281" r:id="rId10"/>
    <p:sldId id="278" r:id="rId11"/>
    <p:sldId id="276" r:id="rId12"/>
    <p:sldId id="279" r:id="rId13"/>
    <p:sldId id="289" r:id="rId14"/>
    <p:sldId id="282" r:id="rId15"/>
    <p:sldId id="290" r:id="rId16"/>
    <p:sldId id="283" r:id="rId17"/>
    <p:sldId id="287"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C393C824-1AD9-4F17-A7A3-D98B60969B72}">
          <p14:sldIdLst>
            <p14:sldId id="256"/>
            <p14:sldId id="286"/>
            <p14:sldId id="269"/>
            <p14:sldId id="275"/>
          </p14:sldIdLst>
        </p14:section>
        <p14:section name="Untitled Section" id="{FE725B59-2ADA-40B2-A81C-EA71B3F12BA4}">
          <p14:sldIdLst>
            <p14:sldId id="257"/>
            <p14:sldId id="274"/>
            <p14:sldId id="277"/>
            <p14:sldId id="288"/>
            <p14:sldId id="281"/>
            <p14:sldId id="278"/>
            <p14:sldId id="276"/>
            <p14:sldId id="279"/>
            <p14:sldId id="289"/>
            <p14:sldId id="282"/>
            <p14:sldId id="290"/>
            <p14:sldId id="283"/>
            <p14:sldId id="287"/>
            <p14:sldId id="26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50" autoAdjust="0"/>
    <p:restoredTop sz="95033" autoAdjust="0"/>
  </p:normalViewPr>
  <p:slideViewPr>
    <p:cSldViewPr snapToGrid="0">
      <p:cViewPr varScale="1">
        <p:scale>
          <a:sx n="82" d="100"/>
          <a:sy n="82" d="100"/>
        </p:scale>
        <p:origin x="485"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78022142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8" y="1021611"/>
            <a:ext cx="10363200" cy="962898"/>
          </a:xfrm>
          <a:prstGeom prst="rect">
            <a:avLst/>
          </a:prstGeom>
          <a:noFill/>
          <a:ln>
            <a:noFill/>
          </a:ln>
        </p:spPr>
        <p:txBody>
          <a:bodyPr spcFirstLastPara="1" wrap="square" lIns="91425" tIns="45700" rIns="91425" bIns="45700" anchor="ctr" anchorCtr="0">
            <a:noAutofit/>
          </a:bodyPr>
          <a:lstStyle/>
          <a:p>
            <a:pPr algn="ctr"/>
            <a:r>
              <a:rPr lang="en-US" sz="2400" dirty="0"/>
              <a:t>Al-Based Internship Recommendation Engine for PM            Internship Scheme</a:t>
            </a:r>
            <a:br>
              <a:rPr lang="en-US" sz="2400" b="0" dirty="0">
                <a:solidFill>
                  <a:srgbClr val="000000"/>
                </a:solidFill>
                <a:latin typeface="Aptos" panose="020B0004020202020204" pitchFamily="34" charset="0"/>
              </a:rPr>
            </a:b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88258" y="2045352"/>
            <a:ext cx="449334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dirty="0">
                <a:latin typeface="Cambria" panose="02040503050406030204" pitchFamily="18" charset="0"/>
                <a:ea typeface="Cambria" panose="02040503050406030204" pitchFamily="18" charset="0"/>
              </a:rPr>
              <a:t>Team Number: </a:t>
            </a:r>
            <a:r>
              <a:rPr lang="en-GB" dirty="0">
                <a:latin typeface="Verdana" panose="020B0604030504040204" pitchFamily="34" charset="0"/>
                <a:ea typeface="Verdana" panose="020B0604030504040204" pitchFamily="34" charset="0"/>
              </a:rPr>
              <a:t> </a:t>
            </a:r>
            <a:r>
              <a:rPr lang="en-IN" sz="1600" dirty="0">
                <a:latin typeface="Verdana" panose="020B0604030504040204" pitchFamily="34" charset="0"/>
                <a:ea typeface="Verdana" panose="020B0604030504040204" pitchFamily="34" charset="0"/>
              </a:rPr>
              <a:t>ISE</a:t>
            </a:r>
            <a:r>
              <a:rPr lang="en-IN" sz="1600" dirty="0"/>
              <a:t>_25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5181599" y="2513340"/>
            <a:ext cx="6812896"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Under the Supervision of</a:t>
            </a:r>
          </a:p>
          <a:p>
            <a:pPr algn="ctr">
              <a:buClr>
                <a:srgbClr val="17365D"/>
              </a:buClr>
              <a:buSzPts val="2000"/>
            </a:pPr>
            <a:r>
              <a:rPr lang="en-IN" sz="1800" dirty="0"/>
              <a:t>Dr. Prajeesh C B</a:t>
            </a:r>
            <a:endParaRPr sz="1800" dirty="0">
              <a:latin typeface="Cambria" panose="02040503050406030204" pitchFamily="18" charset="0"/>
              <a:ea typeface="Cambria" panose="02040503050406030204" pitchFamily="18" charset="0"/>
            </a:endParaRPr>
          </a:p>
          <a:p>
            <a:pPr lvl="0" algn="ctr">
              <a:spcBef>
                <a:spcPts val="340"/>
              </a:spcBef>
              <a:buClr>
                <a:srgbClr val="17365D"/>
              </a:buClr>
              <a:buSzPts val="1700"/>
            </a:pPr>
            <a:r>
              <a:rPr lang="en-IN"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Associate Professor</a:t>
            </a:r>
            <a:endParaRPr lang="en-IN"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extLst>
              <p:ext uri="{D42A27DB-BD31-4B8C-83A1-F6EECF244321}">
                <p14:modId xmlns:p14="http://schemas.microsoft.com/office/powerpoint/2010/main" val="3174668580"/>
              </p:ext>
            </p:extLst>
          </p:nvPr>
        </p:nvGraphicFramePr>
        <p:xfrm>
          <a:off x="598881" y="2499989"/>
          <a:ext cx="5373188" cy="2673841"/>
        </p:xfrm>
        <a:graphic>
          <a:graphicData uri="http://schemas.openxmlformats.org/drawingml/2006/table">
            <a:tbl>
              <a:tblPr firstRow="1" bandRow="1">
                <a:noFill/>
                <a:tableStyleId>{57690726-49DA-4552-BDEB-330DD8EA8BD9}</a:tableStyleId>
              </a:tblPr>
              <a:tblGrid>
                <a:gridCol w="1993107">
                  <a:extLst>
                    <a:ext uri="{9D8B030D-6E8A-4147-A177-3AD203B41FA5}">
                      <a16:colId xmlns:a16="http://schemas.microsoft.com/office/drawing/2014/main" val="20000"/>
                    </a:ext>
                  </a:extLst>
                </a:gridCol>
                <a:gridCol w="3380081">
                  <a:extLst>
                    <a:ext uri="{9D8B030D-6E8A-4147-A177-3AD203B41FA5}">
                      <a16:colId xmlns:a16="http://schemas.microsoft.com/office/drawing/2014/main" val="20001"/>
                    </a:ext>
                  </a:extLst>
                </a:gridCol>
              </a:tblGrid>
              <a:tr h="407156">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53337">
                <a:tc>
                  <a:txBody>
                    <a:bodyPr/>
                    <a:lstStyle/>
                    <a:p>
                      <a:pPr marL="0" marR="0" lvl="0" indent="0" algn="ctr" rtl="0">
                        <a:spcBef>
                          <a:spcPts val="0"/>
                        </a:spcBef>
                        <a:spcAft>
                          <a:spcPts val="0"/>
                        </a:spcAft>
                        <a:buFont typeface="+mj-lt"/>
                        <a:buNone/>
                      </a:pPr>
                      <a:r>
                        <a:rPr lang="en-US" sz="1800" u="none" strike="noStrike" cap="none" dirty="0"/>
                        <a:t>20221ISE0162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Sindhu L Y</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3337">
                <a:tc>
                  <a:txBody>
                    <a:bodyPr/>
                    <a:lstStyle/>
                    <a:p>
                      <a:pPr marL="0" marR="0" lvl="0" indent="0" algn="ctr" rtl="0">
                        <a:spcBef>
                          <a:spcPts val="0"/>
                        </a:spcBef>
                        <a:spcAft>
                          <a:spcPts val="0"/>
                        </a:spcAft>
                        <a:buNone/>
                      </a:pPr>
                      <a:r>
                        <a:rPr lang="en-US" sz="1800" u="none" strike="noStrike" cap="none" dirty="0"/>
                        <a:t>20221ISE0171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Anusha M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3337">
                <a:tc>
                  <a:txBody>
                    <a:bodyPr/>
                    <a:lstStyle/>
                    <a:p>
                      <a:pPr marL="0" marR="0" lvl="0" indent="0" algn="ctr" rtl="0">
                        <a:spcBef>
                          <a:spcPts val="0"/>
                        </a:spcBef>
                        <a:spcAft>
                          <a:spcPts val="0"/>
                        </a:spcAft>
                        <a:buNone/>
                      </a:pPr>
                      <a:r>
                        <a:rPr lang="en-US" sz="1800" u="none" strike="noStrike" cap="none" dirty="0"/>
                        <a:t>20231ISE3001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Kumar G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333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333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First </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598881" y="4533900"/>
            <a:ext cx="10777042" cy="1562100"/>
          </a:xfrm>
          <a:prstGeom prst="rect">
            <a:avLst/>
          </a:prstGeom>
          <a:noFill/>
          <a:ln>
            <a:noFill/>
          </a:ln>
        </p:spPr>
        <p:txBody>
          <a:bodyPr spcFirstLastPara="1" wrap="square" lIns="91425" tIns="45700" rIns="91425" bIns="45700" anchor="t" anchorCtr="0">
            <a:noAutofit/>
          </a:bodyPr>
          <a:lstStyle/>
          <a:p>
            <a:pPr lvl="0" algn="just">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dirty="0"/>
              <a:t>Information Science &amp; Engineering</a:t>
            </a:r>
            <a:r>
              <a:rPr lang="en-US" dirty="0"/>
              <a:t>​</a:t>
            </a:r>
            <a:endParaRPr lang="en-US" sz="1800" b="1" i="0" u="none" strike="noStrike" cap="none" dirty="0">
              <a:solidFill>
                <a:schemeClr val="bg2">
                  <a:lumMod val="50000"/>
                </a:schemeClr>
              </a:solidFill>
              <a:latin typeface="Cambria" panose="02040503050406030204" pitchFamily="18" charset="0"/>
              <a:ea typeface="Cambria" panose="02040503050406030204" pitchFamily="18" charset="0"/>
              <a:cs typeface="Verdana" panose="020B0604030504040204"/>
              <a:sym typeface="Verdana" panose="020B0604030504040204"/>
            </a:endParaRPr>
          </a:p>
          <a:p>
            <a:pPr lvl="0" algn="just">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t>Dr. Gopal Krishna</a:t>
            </a:r>
            <a:r>
              <a:rPr lang="en-US" dirty="0"/>
              <a:t>​</a:t>
            </a:r>
          </a:p>
          <a:p>
            <a:pPr lvl="0" algn="just">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IN" sz="1800" b="1" dirty="0" err="1"/>
              <a:t>Ms.Suma</a:t>
            </a:r>
            <a:r>
              <a:rPr lang="en-IN" sz="1800" b="1" dirty="0"/>
              <a:t> N G</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lgn="just">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2074D-26F3-3B6A-E5D3-D62310CDCF36}"/>
              </a:ext>
            </a:extLst>
          </p:cNvPr>
          <p:cNvSpPr>
            <a:spLocks noGrp="1"/>
          </p:cNvSpPr>
          <p:nvPr>
            <p:ph type="title"/>
          </p:nvPr>
        </p:nvSpPr>
        <p:spPr>
          <a:xfrm>
            <a:off x="812800" y="274637"/>
            <a:ext cx="10668000" cy="620097"/>
          </a:xfrm>
        </p:spPr>
        <p:txBody>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Analysis of Problem Statement</a:t>
            </a:r>
            <a:br>
              <a:rPr lang="en-GB"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F703610A-6BA2-6E5D-53D9-A8DC43B4E5FF}"/>
              </a:ext>
            </a:extLst>
          </p:cNvPr>
          <p:cNvSpPr>
            <a:spLocks noGrp="1"/>
          </p:cNvSpPr>
          <p:nvPr>
            <p:ph type="body" idx="1"/>
          </p:nvPr>
        </p:nvSpPr>
        <p:spPr>
          <a:xfrm>
            <a:off x="812800" y="983226"/>
            <a:ext cx="10668000" cy="5112775"/>
          </a:xfrm>
        </p:spPr>
        <p:txBody>
          <a:bodyPr>
            <a:noAutofit/>
          </a:bodyPr>
          <a:lstStyle/>
          <a:p>
            <a:pPr marL="495300" indent="-342900" algn="just">
              <a:lnSpc>
                <a:spcPct val="200000"/>
              </a:lnSpc>
              <a:spcBef>
                <a:spcPts val="0"/>
              </a:spcBef>
              <a:buFont typeface="Arial" panose="020B0604020202020204" pitchFamily="34" charset="0"/>
              <a:buChar char="•"/>
            </a:pPr>
            <a:r>
              <a:rPr lang="en-US" sz="1400"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indent="-342900" algn="just">
              <a:lnSpc>
                <a:spcPct val="200000"/>
              </a:lnSpc>
              <a:spcBef>
                <a:spcPts val="0"/>
              </a:spcBef>
              <a:buFont typeface="Arial" panose="020B0604020202020204" pitchFamily="34" charset="0"/>
              <a:buChar char="•"/>
            </a:pPr>
            <a:r>
              <a:rPr lang="en-US" sz="1400" dirty="0">
                <a:latin typeface="Times New Roman" panose="02020603050405020304" pitchFamily="18" charset="0"/>
                <a:ea typeface="Cambria" panose="02040503050406030204" pitchFamily="18" charset="0"/>
                <a:cs typeface="Times New Roman" panose="02020603050405020304" pitchFamily="18" charset="0"/>
              </a:rPr>
              <a:t>Introduction </a:t>
            </a:r>
          </a:p>
          <a:p>
            <a:pPr marL="495300" indent="-342900" algn="just">
              <a:lnSpc>
                <a:spcPct val="200000"/>
              </a:lnSpc>
              <a:spcBef>
                <a:spcPts val="0"/>
              </a:spcBef>
              <a:buFont typeface="Arial" panose="020B0604020202020204" pitchFamily="34" charset="0"/>
              <a:buChar char="•"/>
            </a:pPr>
            <a:r>
              <a:rPr lang="en-US" sz="1400"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indent="-342900" algn="just">
              <a:lnSpc>
                <a:spcPct val="200000"/>
              </a:lnSpc>
              <a:spcBef>
                <a:spcPts val="0"/>
              </a:spcBef>
              <a:buFont typeface="Arial" panose="020B0604020202020204" pitchFamily="34" charset="0"/>
              <a:buChar char="•"/>
            </a:pPr>
            <a:r>
              <a:rPr lang="en-US" sz="1400" dirty="0">
                <a:latin typeface="Times New Roman" panose="02020603050405020304" pitchFamily="18" charset="0"/>
                <a:ea typeface="Cambria" panose="02040503050406030204" pitchFamily="18" charset="0"/>
                <a:cs typeface="Times New Roman" panose="020206030504050203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Methodology </a:t>
            </a:r>
          </a:p>
          <a:p>
            <a:pPr marL="495300" lvl="0" indent="-342900" algn="just">
              <a:lnSpc>
                <a:spcPct val="200000"/>
              </a:lnSpc>
              <a:spcBef>
                <a:spcPts val="0"/>
              </a:spcBef>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1400" dirty="0">
                <a:latin typeface="Times New Roman" panose="02020603050405020304" pitchFamily="18" charset="0"/>
                <a:ea typeface="Cambria" panose="02040503050406030204" pitchFamily="18" charset="0"/>
                <a:cs typeface="Times New Roman" panose="02020603050405020304" pitchFamily="18" charset="0"/>
              </a:rPr>
              <a:t>Existing Methods and Drawbacks</a:t>
            </a:r>
          </a:p>
          <a:p>
            <a:pPr marL="495300" lvl="0" indent="-342900" algn="just">
              <a:lnSpc>
                <a:spcPct val="200000"/>
              </a:lnSpc>
              <a:spcBef>
                <a:spcPts val="0"/>
              </a:spcBef>
              <a:buFont typeface="Arial" panose="020B0604020202020204" pitchFamily="34" charset="0"/>
              <a:buChar char="•"/>
            </a:pPr>
            <a:r>
              <a:rPr lang="en-US" sz="1400" dirty="0">
                <a:latin typeface="Times New Roman" panose="02020603050405020304" pitchFamily="18" charset="0"/>
                <a:ea typeface="Cambria" panose="02040503050406030204" pitchFamily="18" charset="0"/>
                <a:cs typeface="Times New Roman" panose="02020603050405020304" pitchFamily="18" charset="0"/>
              </a:rPr>
              <a:t>Innovation or Novel Contributions</a:t>
            </a:r>
          </a:p>
          <a:p>
            <a:pPr marL="495300" indent="-342900" algn="just">
              <a:lnSpc>
                <a:spcPct val="200000"/>
              </a:lnSpc>
              <a:spcBef>
                <a:spcPts val="0"/>
              </a:spcBef>
              <a:buFont typeface="Arial" panose="020B0604020202020204" pitchFamily="34" charset="0"/>
              <a:buChar char="•"/>
            </a:pPr>
            <a:r>
              <a:rPr lang="en-US" sz="1400" dirty="0">
                <a:latin typeface="Times New Roman" panose="02020603050405020304" pitchFamily="18" charset="0"/>
                <a:ea typeface="Cambria" panose="02040503050406030204" pitchFamily="18" charset="0"/>
                <a:cs typeface="Times New Roman" panose="02020603050405020304" pitchFamily="18" charset="0"/>
              </a:rPr>
              <a:t>Git-hub Link</a:t>
            </a:r>
          </a:p>
          <a:p>
            <a:pPr marL="495300" lvl="0" indent="-342900" algn="just">
              <a:lnSpc>
                <a:spcPct val="200000"/>
              </a:lnSpc>
              <a:spcBef>
                <a:spcPts val="0"/>
              </a:spcBef>
              <a:buFont typeface="Arial" panose="020B0604020202020204" pitchFamily="34" charset="0"/>
              <a:buChar char="•"/>
            </a:pPr>
            <a:r>
              <a:rPr lang="en-US" sz="1400"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495300" lvl="0" indent="-342900" algn="just">
              <a:lnSpc>
                <a:spcPct val="200000"/>
              </a:lnSpc>
              <a:spcBef>
                <a:spcPts val="0"/>
              </a:spcBef>
              <a:buFont typeface="Arial" panose="020B0604020202020204" pitchFamily="34" charset="0"/>
              <a:buChar char="•"/>
            </a:pPr>
            <a:r>
              <a:rPr lang="en-US" sz="1400"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a:lnSpc>
                <a:spcPct val="200000"/>
              </a:lnSpc>
              <a:spcBef>
                <a:spcPts val="0"/>
              </a:spcBef>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Conclusion</a:t>
            </a:r>
            <a:endParaRPr lang="en-US" sz="1400" dirty="0">
              <a:latin typeface="Times New Roman" panose="02020603050405020304" pitchFamily="18" charset="0"/>
              <a:ea typeface="Cambria" panose="02040503050406030204" pitchFamily="18" charset="0"/>
              <a:cs typeface="Times New Roman" panose="02020603050405020304" pitchFamily="18" charset="0"/>
            </a:endParaRPr>
          </a:p>
          <a:p>
            <a:pPr marL="0" lvl="0" indent="0">
              <a:spcBef>
                <a:spcPts val="0"/>
              </a:spcBef>
              <a:buClr>
                <a:srgbClr val="17365D"/>
              </a:buClr>
              <a:buSzPts val="2800"/>
              <a:buNone/>
            </a:pPr>
            <a:endParaRPr lang="en-US" sz="1400" dirty="0">
              <a:latin typeface="Times New Roman" panose="02020603050405020304" pitchFamily="18" charset="0"/>
              <a:ea typeface="Cambria" panose="020405030504060302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0104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73760" y="27449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 </a:t>
            </a:r>
            <a:r>
              <a:rPr lang="en-IN" dirty="0"/>
              <a:t>SIH25034 </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026160"/>
            <a:ext cx="10668000" cy="5069841"/>
          </a:xfrm>
          <a:prstGeom prst="rect">
            <a:avLst/>
          </a:prstGeom>
          <a:noFill/>
          <a:ln>
            <a:noFill/>
          </a:ln>
        </p:spPr>
        <p:txBody>
          <a:bodyPr spcFirstLastPara="1" wrap="square" lIns="91425" tIns="45700" rIns="91425" bIns="45700" anchor="t" anchorCtr="0">
            <a:normAutofit fontScale="70000" lnSpcReduction="20000"/>
          </a:bodyPr>
          <a:lstStyle/>
          <a:p>
            <a:pPr marL="342900" lvl="0" indent="-190500" algn="just">
              <a:spcBef>
                <a:spcPts val="0"/>
              </a:spcBef>
              <a:buNone/>
            </a:pPr>
            <a:r>
              <a:rPr lang="en-US" sz="2900" b="1"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lvl="0" indent="-190500" algn="just">
              <a:spcBef>
                <a:spcPts val="0"/>
              </a:spcBef>
              <a:buNone/>
            </a:pPr>
            <a:r>
              <a:rPr lang="en-US" sz="2900" b="1"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rPr>
              <a:t>Organization</a:t>
            </a:r>
            <a:r>
              <a:rPr lang="en-US" sz="2900" dirty="0">
                <a:solidFill>
                  <a:schemeClr val="bg2">
                    <a:lumMod val="60000"/>
                    <a:lumOff val="40000"/>
                  </a:schemeClr>
                </a:solidFill>
                <a:latin typeface="Times New Roman" panose="02020603050405020304" pitchFamily="18" charset="0"/>
                <a:ea typeface="Cambria" panose="02040503050406030204" pitchFamily="18" charset="0"/>
                <a:cs typeface="Times New Roman" panose="02020603050405020304" pitchFamily="18" charset="0"/>
              </a:rPr>
              <a:t>: </a:t>
            </a:r>
            <a:r>
              <a:rPr lang="en-US" sz="3400" dirty="0">
                <a:solidFill>
                  <a:schemeClr val="bg2">
                    <a:lumMod val="60000"/>
                    <a:lumOff val="40000"/>
                  </a:schemeClr>
                </a:solidFill>
                <a:latin typeface="Times New Roman" panose="02020603050405020304" pitchFamily="18" charset="0"/>
                <a:cs typeface="Times New Roman" panose="02020603050405020304" pitchFamily="18" charset="0"/>
              </a:rPr>
              <a:t>AICTE​</a:t>
            </a:r>
            <a:r>
              <a:rPr lang="en-US" dirty="0">
                <a:latin typeface="Times New Roman" panose="02020603050405020304" pitchFamily="18" charset="0"/>
                <a:cs typeface="Times New Roman" panose="02020603050405020304" pitchFamily="18" charset="0"/>
              </a:rPr>
              <a:t> </a:t>
            </a:r>
            <a:r>
              <a:rPr lang="en-US" sz="2900" dirty="0">
                <a:solidFill>
                  <a:schemeClr val="bg2">
                    <a:lumMod val="60000"/>
                    <a:lumOff val="40000"/>
                  </a:schemeClr>
                </a:solidFill>
                <a:latin typeface="Times New Roman" panose="02020603050405020304" pitchFamily="18" charset="0"/>
                <a:ea typeface="Cambria" panose="02040503050406030204" pitchFamily="18" charset="0"/>
                <a:cs typeface="Times New Roman" panose="02020603050405020304" pitchFamily="18" charset="0"/>
              </a:rPr>
              <a:t>  (</a:t>
            </a:r>
            <a:r>
              <a:rPr lang="en-IN" sz="3200" dirty="0">
                <a:solidFill>
                  <a:schemeClr val="bg2">
                    <a:lumMod val="60000"/>
                    <a:lumOff val="40000"/>
                  </a:schemeClr>
                </a:solidFill>
                <a:latin typeface="Times New Roman" panose="02020603050405020304" pitchFamily="18" charset="0"/>
                <a:cs typeface="Times New Roman" panose="02020603050405020304" pitchFamily="18" charset="0"/>
              </a:rPr>
              <a:t>Smart India Hackathon)</a:t>
            </a:r>
            <a:endParaRPr lang="en-US" sz="2900" dirty="0">
              <a:solidFill>
                <a:schemeClr val="bg2">
                  <a:lumMod val="60000"/>
                  <a:lumOff val="40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200000"/>
              </a:lnSpc>
              <a:spcBef>
                <a:spcPts val="0"/>
              </a:spcBef>
              <a:buNone/>
            </a:pPr>
            <a:r>
              <a:rPr lang="en-US" sz="2900" b="1"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rPr>
              <a:t>Category </a:t>
            </a:r>
            <a:r>
              <a:rPr lang="en-US" sz="2900" b="1" dirty="0">
                <a:latin typeface="Times New Roman" panose="02020603050405020304" pitchFamily="18" charset="0"/>
                <a:ea typeface="Cambria" panose="02040503050406030204" pitchFamily="18" charset="0"/>
                <a:cs typeface="Times New Roman" panose="02020603050405020304" pitchFamily="18" charset="0"/>
              </a:rPr>
              <a:t> </a:t>
            </a:r>
            <a:r>
              <a:rPr lang="en-US" sz="2900" dirty="0">
                <a:solidFill>
                  <a:schemeClr val="bg2">
                    <a:lumMod val="60000"/>
                    <a:lumOff val="40000"/>
                  </a:schemeClr>
                </a:solidFill>
                <a:latin typeface="Times New Roman" panose="02020603050405020304" pitchFamily="18" charset="0"/>
                <a:ea typeface="Cambria" panose="02040503050406030204" pitchFamily="18" charset="0"/>
                <a:cs typeface="Times New Roman" panose="02020603050405020304" pitchFamily="18" charset="0"/>
              </a:rPr>
              <a:t>:  </a:t>
            </a:r>
            <a:r>
              <a:rPr lang="en-US" sz="2900" b="1" dirty="0">
                <a:solidFill>
                  <a:schemeClr val="bg2">
                    <a:lumMod val="60000"/>
                    <a:lumOff val="40000"/>
                  </a:schemeClr>
                </a:solidFill>
                <a:latin typeface="Times New Roman" panose="02020603050405020304" pitchFamily="18" charset="0"/>
                <a:ea typeface="Cambria" panose="02040503050406030204" pitchFamily="18" charset="0"/>
                <a:cs typeface="Times New Roman" panose="02020603050405020304" pitchFamily="18" charset="0"/>
              </a:rPr>
              <a:t>Software</a:t>
            </a:r>
          </a:p>
          <a:p>
            <a:pPr marL="342900" indent="-190500" algn="just">
              <a:lnSpc>
                <a:spcPct val="200000"/>
              </a:lnSpc>
              <a:spcBef>
                <a:spcPts val="0"/>
              </a:spcBef>
              <a:buNone/>
            </a:pPr>
            <a:r>
              <a:rPr lang="en-US" sz="2800" b="1" dirty="0">
                <a:latin typeface="Times New Roman" panose="02020603050405020304" pitchFamily="18" charset="0"/>
                <a:ea typeface="Cambria" panose="02040503050406030204" pitchFamily="18" charset="0"/>
                <a:cs typeface="Times New Roman" panose="02020603050405020304" pitchFamily="18" charset="0"/>
              </a:rPr>
              <a:t>Abstract </a:t>
            </a:r>
            <a:r>
              <a:rPr lang="en-US" sz="2600" b="1"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indent="-190500" algn="just">
              <a:lnSpc>
                <a:spcPct val="200000"/>
              </a:lnSpc>
              <a:spcBef>
                <a:spcPts val="0"/>
              </a:spcBef>
              <a:buNone/>
            </a:pPr>
            <a:r>
              <a:rPr lang="en-US" sz="2900" dirty="0">
                <a:latin typeface="Times New Roman" panose="02020603050405020304" pitchFamily="18" charset="0"/>
                <a:ea typeface="Verdana" panose="020B0604030504040204" pitchFamily="34"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project proposes an </a:t>
            </a:r>
            <a:r>
              <a:rPr lang="en-US" b="1" dirty="0">
                <a:latin typeface="Times New Roman" panose="02020603050405020304" pitchFamily="18" charset="0"/>
                <a:cs typeface="Times New Roman" panose="02020603050405020304" pitchFamily="18" charset="0"/>
              </a:rPr>
              <a:t>AI-Based Internship Recommendation Engine</a:t>
            </a:r>
            <a:r>
              <a:rPr lang="en-US" dirty="0">
                <a:latin typeface="Times New Roman" panose="02020603050405020304" pitchFamily="18" charset="0"/>
                <a:cs typeface="Times New Roman" panose="02020603050405020304" pitchFamily="18" charset="0"/>
              </a:rPr>
              <a:t> that utilizes </a:t>
            </a:r>
            <a:r>
              <a:rPr lang="en-US" b="1" dirty="0">
                <a:latin typeface="Times New Roman" panose="02020603050405020304" pitchFamily="18" charset="0"/>
                <a:cs typeface="Times New Roman" panose="02020603050405020304" pitchFamily="18" charset="0"/>
              </a:rPr>
              <a:t>Artificial Intelligence (AI)</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Machine Learning (ML)</a:t>
            </a:r>
            <a:r>
              <a:rPr lang="en-US" dirty="0">
                <a:latin typeface="Times New Roman" panose="02020603050405020304" pitchFamily="18" charset="0"/>
                <a:cs typeface="Times New Roman" panose="02020603050405020304" pitchFamily="18" charset="0"/>
              </a:rPr>
              <a:t> to provide personalized and data-driven internship recommendations. The system analyzes student profiles, including educational background, skills, interests, and career goals, along with internship requirements such as domain, skill set, location, and duration. Based on this analysis, the engine generates ranked internship suggestions that best match individual student profiles.</a:t>
            </a:r>
            <a:endParaRPr lang="en-US" b="1"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6;p14"/>
          <p:cNvSpPr txBox="1">
            <a:spLocks noGrp="1"/>
          </p:cNvSpPr>
          <p:nvPr>
            <p:ph type="title"/>
          </p:nvPr>
        </p:nvSpPr>
        <p:spPr>
          <a:xfrm>
            <a:off x="861962" y="284471"/>
            <a:ext cx="10668000" cy="487362"/>
          </a:xfrm>
          <a:prstGeom prst="rect">
            <a:avLst/>
          </a:prstGeom>
          <a:noFill/>
          <a:ln>
            <a:noFill/>
          </a:ln>
        </p:spPr>
        <p:txBody>
          <a:bodyPr spcFirstLastPara="1" wrap="square" lIns="91425" tIns="45700" rIns="91425" bIns="45700" anchor="ctr" anchorCtr="0">
            <a:noAutofit/>
          </a:bodyPr>
          <a:lstStyle/>
          <a:p>
            <a:pPr lvl="0"/>
            <a:r>
              <a:rPr lang="en-IN" dirty="0"/>
              <a:t>Introduction</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1D510F5D-AE99-FD46-754F-3DB7F3D89BC3}"/>
              </a:ext>
            </a:extLst>
          </p:cNvPr>
          <p:cNvSpPr>
            <a:spLocks noGrp="1" noChangeArrowheads="1"/>
          </p:cNvSpPr>
          <p:nvPr>
            <p:ph type="body" idx="1"/>
          </p:nvPr>
        </p:nvSpPr>
        <p:spPr bwMode="auto">
          <a:xfrm>
            <a:off x="619432" y="1337353"/>
            <a:ext cx="10776156" cy="3821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800" dirty="0">
                <a:latin typeface="Times New Roman" panose="02020603050405020304" pitchFamily="18" charset="0"/>
                <a:cs typeface="Times New Roman" panose="02020603050405020304" pitchFamily="18" charset="0"/>
              </a:rPr>
              <a:t>This project is developed in response to </a:t>
            </a:r>
            <a:r>
              <a:rPr lang="en-US" sz="1800" b="1" dirty="0">
                <a:latin typeface="Times New Roman" panose="02020603050405020304" pitchFamily="18" charset="0"/>
                <a:cs typeface="Times New Roman" panose="02020603050405020304" pitchFamily="18" charset="0"/>
              </a:rPr>
              <a:t>SIH25034</a:t>
            </a:r>
            <a:r>
              <a:rPr lang="en-US" sz="1800" dirty="0">
                <a:latin typeface="Times New Roman" panose="02020603050405020304" pitchFamily="18" charset="0"/>
                <a:cs typeface="Times New Roman" panose="02020603050405020304" pitchFamily="18" charset="0"/>
              </a:rPr>
              <a:t> under the </a:t>
            </a:r>
            <a:r>
              <a:rPr lang="en-US" sz="1800" b="1" dirty="0">
                <a:latin typeface="Times New Roman" panose="02020603050405020304" pitchFamily="18" charset="0"/>
                <a:cs typeface="Times New Roman" panose="02020603050405020304" pitchFamily="18" charset="0"/>
              </a:rPr>
              <a:t>Smart India Hackathon</a:t>
            </a:r>
            <a:r>
              <a:rPr lang="en-US" sz="1800" dirty="0">
                <a:latin typeface="Times New Roman" panose="02020603050405020304" pitchFamily="18" charset="0"/>
                <a:cs typeface="Times New Roman" panose="02020603050405020304" pitchFamily="18" charset="0"/>
              </a:rPr>
              <a:t> and is aligned with </a:t>
            </a:r>
            <a:r>
              <a:rPr lang="en-US" sz="1800" b="1" dirty="0">
                <a:latin typeface="Times New Roman" panose="02020603050405020304" pitchFamily="18" charset="0"/>
                <a:cs typeface="Times New Roman" panose="02020603050405020304" pitchFamily="18" charset="0"/>
              </a:rPr>
              <a:t>Sustainable Development Goal 4 (SDG 4 – Quality Education)</a:t>
            </a:r>
            <a:r>
              <a:rPr lang="en-US" sz="1800" dirty="0">
                <a:latin typeface="Times New Roman" panose="02020603050405020304" pitchFamily="18" charset="0"/>
                <a:cs typeface="Times New Roman" panose="02020603050405020304" pitchFamily="18" charset="0"/>
              </a:rPr>
              <a:t>. The solution promotes inclusive and equitable access to experiential learning opportunities, enhances skill development, and supports lifelong learning by connecting students to internships that are most relevant to their learning outcomes and professional growth.</a:t>
            </a:r>
          </a:p>
          <a:p>
            <a:pPr>
              <a:lnSpc>
                <a:spcPct val="150000"/>
              </a:lnSpc>
            </a:pPr>
            <a:r>
              <a:rPr lang="en-US" sz="1800" dirty="0">
                <a:latin typeface="Times New Roman" panose="02020603050405020304" pitchFamily="18" charset="0"/>
                <a:cs typeface="Times New Roman" panose="02020603050405020304" pitchFamily="18" charset="0"/>
              </a:rPr>
              <a:t>By improving the quality of internship allocation and reducing skill mismatches, the proposed system contributes to better learning experiences, higher employability, and a stronger education-to-employment ecosystem in India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104776"/>
            <a:ext cx="10668000" cy="721134"/>
          </a:xfrm>
          <a:prstGeom prst="rect">
            <a:avLst/>
          </a:prstGeom>
          <a:noFill/>
          <a:ln>
            <a:noFill/>
          </a:ln>
        </p:spPr>
        <p:txBody>
          <a:bodyPr spcFirstLastPara="1" wrap="square" lIns="91425" tIns="45700" rIns="91425" bIns="45700" anchor="ctr" anchorCtr="0">
            <a:noAutofit/>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Objectives</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B7607912-C5C8-4393-28C9-DB9A3030539A}"/>
              </a:ext>
            </a:extLst>
          </p:cNvPr>
          <p:cNvSpPr txBox="1"/>
          <p:nvPr/>
        </p:nvSpPr>
        <p:spPr>
          <a:xfrm>
            <a:off x="812799" y="993058"/>
            <a:ext cx="10667999" cy="373031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develop an AI-based system that recommends suitable internships to students.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match students with internships based on their skills, education, and interests.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reduce skill mismatch between students and internship opportunities.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provide fair and equal internship recommendations for all students.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help students gain practical experience relevant to their career goals.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improve employability by connecting students with industry-relevant internships.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automate the internship allocation process using data-driven methods.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support inclusive and quality education under the PM Internship Scheme.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4" name="Rectangle 3"/>
          <p:cNvSpPr>
            <a:spLocks noChangeArrowheads="1"/>
          </p:cNvSpPr>
          <p:nvPr/>
        </p:nvSpPr>
        <p:spPr bwMode="auto">
          <a:xfrm>
            <a:off x="369277" y="4401435"/>
            <a:ext cx="114534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eaLnBrk="0" fontAlgn="base" hangingPunct="0">
              <a:spcBef>
                <a:spcPct val="0"/>
              </a:spcBef>
              <a:spcAft>
                <a:spcPct val="0"/>
              </a:spcAft>
              <a:buClrTx/>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5" name="TextBox 4">
            <a:extLst>
              <a:ext uri="{FF2B5EF4-FFF2-40B4-BE49-F238E27FC236}">
                <a16:creationId xmlns:a16="http://schemas.microsoft.com/office/drawing/2014/main" id="{2923A993-565B-1EBA-521E-9C0D18D65EF2}"/>
              </a:ext>
            </a:extLst>
          </p:cNvPr>
          <p:cNvSpPr txBox="1"/>
          <p:nvPr/>
        </p:nvSpPr>
        <p:spPr>
          <a:xfrm>
            <a:off x="737419" y="993058"/>
            <a:ext cx="10333703" cy="4197559"/>
          </a:xfrm>
          <a:prstGeom prst="rect">
            <a:avLst/>
          </a:prstGeom>
          <a:noFill/>
        </p:spPr>
        <p:txBody>
          <a:bodyPr wrap="square">
            <a:spAutoFit/>
          </a:bodyPr>
          <a:lstStyle/>
          <a:p>
            <a:pPr algn="just">
              <a:lnSpc>
                <a:spcPct val="150000"/>
              </a:lnSpc>
              <a:buNone/>
            </a:pPr>
            <a:r>
              <a:rPr lang="en-US" sz="1800" b="1" dirty="0">
                <a:latin typeface="Times New Roman" panose="02020603050405020304" pitchFamily="18" charset="0"/>
                <a:cs typeface="Times New Roman" panose="02020603050405020304" pitchFamily="18" charset="0"/>
              </a:rPr>
              <a:t>Background</a:t>
            </a:r>
          </a:p>
          <a:p>
            <a:pPr algn="just">
              <a:lnSpc>
                <a:spcPct val="150000"/>
              </a:lnSpc>
              <a:buNone/>
            </a:pPr>
            <a:r>
              <a:rPr lang="en-US" sz="1800" dirty="0">
                <a:latin typeface="Times New Roman" panose="02020603050405020304" pitchFamily="18" charset="0"/>
                <a:cs typeface="Times New Roman" panose="02020603050405020304" pitchFamily="18" charset="0"/>
              </a:rPr>
              <a:t>Internships are an essential part of student learning as they help bridge the gap between academic knowledge and real-world industry requirements. The </a:t>
            </a:r>
            <a:r>
              <a:rPr lang="en-US" sz="1800" b="1" dirty="0">
                <a:latin typeface="Times New Roman" panose="02020603050405020304" pitchFamily="18" charset="0"/>
                <a:cs typeface="Times New Roman" panose="02020603050405020304" pitchFamily="18" charset="0"/>
              </a:rPr>
              <a:t>PM Internship Scheme</a:t>
            </a:r>
            <a:r>
              <a:rPr lang="en-US" sz="1800" dirty="0">
                <a:latin typeface="Times New Roman" panose="02020603050405020304" pitchFamily="18" charset="0"/>
                <a:cs typeface="Times New Roman" panose="02020603050405020304" pitchFamily="18" charset="0"/>
              </a:rPr>
              <a:t> was introduced to provide students with structured internship opportunities and improve employability. However, the increasing number of students and internships makes manual or rule-based allocation inefficient and often inaccurate.</a:t>
            </a:r>
          </a:p>
          <a:p>
            <a:pPr algn="just">
              <a:lnSpc>
                <a:spcPct val="150000"/>
              </a:lnSpc>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Related work</a:t>
            </a:r>
            <a:endParaRPr lang="en-US" sz="1800" b="1" dirty="0">
              <a:latin typeface="Times New Roman" panose="02020603050405020304" pitchFamily="18" charset="0"/>
              <a:cs typeface="Times New Roman" panose="02020603050405020304" pitchFamily="18" charset="0"/>
            </a:endParaRPr>
          </a:p>
          <a:p>
            <a:pPr algn="just">
              <a:lnSpc>
                <a:spcPct val="150000"/>
              </a:lnSpc>
              <a:buNone/>
            </a:pPr>
            <a:r>
              <a:rPr lang="en-US" sz="1800" dirty="0">
                <a:latin typeface="Times New Roman" panose="02020603050405020304" pitchFamily="18" charset="0"/>
                <a:cs typeface="Times New Roman" panose="02020603050405020304" pitchFamily="18" charset="0"/>
              </a:rPr>
              <a:t>Existing recommendation systems are widely used in job portals, online learning platforms, and career guidance tools. Most current systems use rule-based filtering or keyword matching, which provides limited personalization. Some studies have explored ML-based career and job recommendation systems using academic data and interest surveys, showing improved matching accuracy.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br>
              <a:rPr lang="en-IN" dirty="0">
                <a:latin typeface="Candara" panose="020E0502030303020204" pitchFamily="34" charset="0"/>
              </a:rPr>
            </a:br>
            <a:r>
              <a:rPr lang="en-IN" dirty="0">
                <a:latin typeface="Candara" panose="020E0502030303020204" pitchFamily="34" charset="0"/>
              </a:rPr>
              <a:t>Methodology </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6" name="Google Shape;115;p17"/>
          <p:cNvSpPr txBox="1"/>
          <p:nvPr/>
        </p:nvSpPr>
        <p:spPr>
          <a:xfrm>
            <a:off x="711200" y="956186"/>
            <a:ext cx="10769600" cy="4953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76200" indent="0">
              <a:lnSpc>
                <a:spcPct val="160000"/>
              </a:lnSpc>
              <a:buNone/>
            </a:pPr>
            <a:r>
              <a:rPr lang="en-US" sz="1800" dirty="0">
                <a:latin typeface="Times New Roman" panose="02020603050405020304" pitchFamily="18" charset="0"/>
                <a:cs typeface="Times New Roman" panose="02020603050405020304" pitchFamily="18" charset="0"/>
              </a:rPr>
              <a:t>The proposed </a:t>
            </a:r>
            <a:r>
              <a:rPr lang="en-US" sz="1800" b="1" dirty="0">
                <a:latin typeface="Times New Roman" panose="02020603050405020304" pitchFamily="18" charset="0"/>
                <a:cs typeface="Times New Roman" panose="02020603050405020304" pitchFamily="18" charset="0"/>
              </a:rPr>
              <a:t>AI-Based Internship Recommendation Engine</a:t>
            </a:r>
            <a:r>
              <a:rPr lang="en-US" sz="1800" dirty="0">
                <a:latin typeface="Times New Roman" panose="02020603050405020304" pitchFamily="18" charset="0"/>
                <a:cs typeface="Times New Roman" panose="02020603050405020304" pitchFamily="18" charset="0"/>
              </a:rPr>
              <a:t> follows a simple, systematic, and data-driven approach to match students with suitable internships under the </a:t>
            </a:r>
            <a:r>
              <a:rPr lang="en-US" sz="1800" b="1" dirty="0">
                <a:latin typeface="Times New Roman" panose="02020603050405020304" pitchFamily="18" charset="0"/>
                <a:cs typeface="Times New Roman" panose="02020603050405020304" pitchFamily="18" charset="0"/>
              </a:rPr>
              <a:t>PM Internship Scheme</a:t>
            </a:r>
            <a:r>
              <a:rPr lang="en-US" sz="1800" dirty="0">
                <a:latin typeface="Times New Roman" panose="02020603050405020304" pitchFamily="18" charset="0"/>
                <a:cs typeface="Times New Roman" panose="02020603050405020304" pitchFamily="18" charset="0"/>
              </a:rPr>
              <a:t>. The methodology is designed to be scalable, fair, and easy to understand.</a:t>
            </a:r>
          </a:p>
          <a:p>
            <a:pPr marL="76200" indent="0">
              <a:lnSpc>
                <a:spcPct val="160000"/>
              </a:lnSpc>
              <a:buNone/>
            </a:pPr>
            <a:r>
              <a:rPr lang="en-US" sz="1800" b="1" dirty="0">
                <a:latin typeface="Times New Roman" panose="02020603050405020304" pitchFamily="18" charset="0"/>
                <a:cs typeface="Times New Roman" panose="02020603050405020304" pitchFamily="18" charset="0"/>
              </a:rPr>
              <a:t>Step-by-Step Methodology</a:t>
            </a:r>
          </a:p>
          <a:p>
            <a:pPr>
              <a:lnSpc>
                <a:spcPct val="160000"/>
              </a:lnSpc>
            </a:pPr>
            <a:r>
              <a:rPr lang="en-US" sz="1800" b="1" dirty="0">
                <a:latin typeface="Times New Roman" panose="02020603050405020304" pitchFamily="18" charset="0"/>
                <a:cs typeface="Times New Roman" panose="02020603050405020304" pitchFamily="18" charset="0"/>
              </a:rPr>
              <a:t>Data Collection</a:t>
            </a:r>
          </a:p>
          <a:p>
            <a:pPr>
              <a:lnSpc>
                <a:spcPct val="160000"/>
              </a:lnSpc>
            </a:pPr>
            <a:r>
              <a:rPr lang="en-US" sz="1800" b="1" dirty="0">
                <a:latin typeface="Times New Roman" panose="02020603050405020304" pitchFamily="18" charset="0"/>
                <a:cs typeface="Times New Roman" panose="02020603050405020304" pitchFamily="18" charset="0"/>
              </a:rPr>
              <a:t>Data Preprocessing</a:t>
            </a:r>
          </a:p>
          <a:p>
            <a:pPr>
              <a:lnSpc>
                <a:spcPct val="160000"/>
              </a:lnSpc>
            </a:pPr>
            <a:r>
              <a:rPr lang="en-US" sz="1800" b="1" dirty="0">
                <a:latin typeface="Times New Roman" panose="02020603050405020304" pitchFamily="18" charset="0"/>
                <a:cs typeface="Times New Roman" panose="02020603050405020304" pitchFamily="18" charset="0"/>
              </a:rPr>
              <a:t>Feature Extraction</a:t>
            </a:r>
          </a:p>
          <a:p>
            <a:pPr>
              <a:lnSpc>
                <a:spcPct val="160000"/>
              </a:lnSpc>
            </a:pPr>
            <a:r>
              <a:rPr lang="en-US" sz="1800" b="1" dirty="0">
                <a:latin typeface="Times New Roman" panose="02020603050405020304" pitchFamily="18" charset="0"/>
                <a:cs typeface="Times New Roman" panose="02020603050405020304" pitchFamily="18" charset="0"/>
              </a:rPr>
              <a:t>Recommendation </a:t>
            </a:r>
          </a:p>
          <a:p>
            <a:pPr>
              <a:lnSpc>
                <a:spcPct val="160000"/>
              </a:lnSpc>
            </a:pPr>
            <a:r>
              <a:rPr lang="en-US" sz="1800" b="1" dirty="0" err="1">
                <a:latin typeface="Times New Roman" panose="02020603050405020304" pitchFamily="18" charset="0"/>
                <a:cs typeface="Times New Roman" panose="02020603050405020304" pitchFamily="18" charset="0"/>
              </a:rPr>
              <a:t>EngineRanking</a:t>
            </a:r>
            <a:r>
              <a:rPr lang="en-US" sz="1800" b="1" dirty="0">
                <a:latin typeface="Times New Roman" panose="02020603050405020304" pitchFamily="18" charset="0"/>
                <a:cs typeface="Times New Roman" panose="02020603050405020304" pitchFamily="18" charset="0"/>
              </a:rPr>
              <a:t> &amp; Recommendation</a:t>
            </a:r>
          </a:p>
          <a:p>
            <a:pPr>
              <a:lnSpc>
                <a:spcPct val="160000"/>
              </a:lnSpc>
            </a:pPr>
            <a:r>
              <a:rPr lang="en-US" sz="1800" b="1" dirty="0">
                <a:latin typeface="Times New Roman" panose="02020603050405020304" pitchFamily="18" charset="0"/>
                <a:cs typeface="Times New Roman" panose="02020603050405020304" pitchFamily="18" charset="0"/>
              </a:rPr>
              <a:t>Feedback &amp; Learning</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4487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D86D7-7A1A-5DF2-D0E7-662BE7B8F487}"/>
              </a:ext>
            </a:extLst>
          </p:cNvPr>
          <p:cNvSpPr>
            <a:spLocks noGrp="1"/>
          </p:cNvSpPr>
          <p:nvPr>
            <p:ph type="title"/>
          </p:nvPr>
        </p:nvSpPr>
        <p:spPr/>
        <p:txBody>
          <a:bodyPr/>
          <a:lstStyle/>
          <a:p>
            <a:br>
              <a:rPr lang="en-IN" dirty="0"/>
            </a:br>
            <a:r>
              <a:rPr lang="en-IN" dirty="0"/>
              <a:t>Tools &amp; Software Used</a:t>
            </a:r>
            <a:br>
              <a:rPr lang="en-IN" dirty="0"/>
            </a:br>
            <a:endParaRPr lang="en-IN" dirty="0"/>
          </a:p>
        </p:txBody>
      </p:sp>
      <p:sp>
        <p:nvSpPr>
          <p:cNvPr id="3" name="Text Placeholder 2">
            <a:extLst>
              <a:ext uri="{FF2B5EF4-FFF2-40B4-BE49-F238E27FC236}">
                <a16:creationId xmlns:a16="http://schemas.microsoft.com/office/drawing/2014/main" id="{9BFF9CE0-A177-DB92-C64B-6C220200E031}"/>
              </a:ext>
            </a:extLst>
          </p:cNvPr>
          <p:cNvSpPr>
            <a:spLocks noGrp="1"/>
          </p:cNvSpPr>
          <p:nvPr>
            <p:ph type="body" idx="1"/>
          </p:nvPr>
        </p:nvSpPr>
        <p:spPr>
          <a:xfrm>
            <a:off x="711200" y="658761"/>
            <a:ext cx="10769600" cy="5437240"/>
          </a:xfrm>
        </p:spPr>
        <p:txBody>
          <a:bodyPr>
            <a:normAutofit/>
          </a:bodyPr>
          <a:lstStyle/>
          <a:p>
            <a:pPr marL="76200" indent="0">
              <a:lnSpc>
                <a:spcPct val="150000"/>
              </a:lnSpc>
              <a:buNone/>
            </a:pPr>
            <a:endParaRPr lang="en-IN" sz="1800" b="1" dirty="0">
              <a:latin typeface="Times New Roman" panose="02020603050405020304" pitchFamily="18" charset="0"/>
              <a:cs typeface="Times New Roman" panose="02020603050405020304" pitchFamily="18" charset="0"/>
            </a:endParaRPr>
          </a:p>
          <a:p>
            <a:pPr>
              <a:lnSpc>
                <a:spcPct val="150000"/>
              </a:lnSpc>
            </a:pPr>
            <a:r>
              <a:rPr lang="en-IN" sz="1800" b="1" dirty="0">
                <a:latin typeface="Times New Roman" panose="02020603050405020304" pitchFamily="18" charset="0"/>
                <a:cs typeface="Times New Roman" panose="02020603050405020304" pitchFamily="18" charset="0"/>
              </a:rPr>
              <a:t>Python</a:t>
            </a:r>
            <a:r>
              <a:rPr lang="en-IN" sz="1800" dirty="0">
                <a:latin typeface="Times New Roman" panose="02020603050405020304" pitchFamily="18" charset="0"/>
                <a:cs typeface="Times New Roman" panose="02020603050405020304" pitchFamily="18" charset="0"/>
              </a:rPr>
              <a:t> – Core programming</a:t>
            </a:r>
          </a:p>
          <a:p>
            <a:pPr>
              <a:lnSpc>
                <a:spcPct val="150000"/>
              </a:lnSpc>
            </a:pPr>
            <a:r>
              <a:rPr lang="en-IN" sz="1800" b="1" dirty="0">
                <a:latin typeface="Times New Roman" panose="02020603050405020304" pitchFamily="18" charset="0"/>
                <a:cs typeface="Times New Roman" panose="02020603050405020304" pitchFamily="18" charset="0"/>
              </a:rPr>
              <a:t>VS Code</a:t>
            </a:r>
            <a:r>
              <a:rPr lang="en-IN" sz="1800" dirty="0">
                <a:latin typeface="Times New Roman" panose="02020603050405020304" pitchFamily="18" charset="0"/>
                <a:cs typeface="Times New Roman" panose="02020603050405020304" pitchFamily="18" charset="0"/>
              </a:rPr>
              <a:t> – Development environment</a:t>
            </a:r>
          </a:p>
          <a:p>
            <a:pPr>
              <a:lnSpc>
                <a:spcPct val="150000"/>
              </a:lnSpc>
            </a:pPr>
            <a:r>
              <a:rPr lang="en-IN" sz="1800" b="1" dirty="0">
                <a:latin typeface="Times New Roman" panose="02020603050405020304" pitchFamily="18" charset="0"/>
                <a:cs typeface="Times New Roman" panose="02020603050405020304" pitchFamily="18" charset="0"/>
              </a:rPr>
              <a:t>Pandas, NumPy</a:t>
            </a:r>
            <a:r>
              <a:rPr lang="en-IN" sz="1800" dirty="0">
                <a:latin typeface="Times New Roman" panose="02020603050405020304" pitchFamily="18" charset="0"/>
                <a:cs typeface="Times New Roman" panose="02020603050405020304" pitchFamily="18" charset="0"/>
              </a:rPr>
              <a:t> – Data processing</a:t>
            </a:r>
          </a:p>
          <a:p>
            <a:pPr>
              <a:lnSpc>
                <a:spcPct val="150000"/>
              </a:lnSpc>
            </a:pPr>
            <a:r>
              <a:rPr lang="en-IN" sz="1800" b="1" dirty="0">
                <a:latin typeface="Times New Roman" panose="02020603050405020304" pitchFamily="18" charset="0"/>
                <a:cs typeface="Times New Roman" panose="02020603050405020304" pitchFamily="18" charset="0"/>
              </a:rPr>
              <a:t>Flask / </a:t>
            </a:r>
            <a:r>
              <a:rPr lang="en-IN" sz="1800" b="1" dirty="0" err="1">
                <a:latin typeface="Times New Roman" panose="02020603050405020304" pitchFamily="18" charset="0"/>
                <a:cs typeface="Times New Roman" panose="02020603050405020304" pitchFamily="18" charset="0"/>
              </a:rPr>
              <a:t>FastAPI</a:t>
            </a:r>
            <a:r>
              <a:rPr lang="en-IN" sz="1800" dirty="0">
                <a:latin typeface="Times New Roman" panose="02020603050405020304" pitchFamily="18" charset="0"/>
                <a:cs typeface="Times New Roman" panose="02020603050405020304" pitchFamily="18" charset="0"/>
              </a:rPr>
              <a:t> – Backend development</a:t>
            </a:r>
          </a:p>
          <a:p>
            <a:pPr>
              <a:lnSpc>
                <a:spcPct val="150000"/>
              </a:lnSpc>
            </a:pPr>
            <a:r>
              <a:rPr lang="en-IN" sz="1800" b="1" dirty="0">
                <a:latin typeface="Times New Roman" panose="02020603050405020304" pitchFamily="18" charset="0"/>
                <a:cs typeface="Times New Roman" panose="02020603050405020304" pitchFamily="18" charset="0"/>
              </a:rPr>
              <a:t>MySQL</a:t>
            </a:r>
            <a:r>
              <a:rPr lang="en-IN" sz="1800" dirty="0">
                <a:latin typeface="Times New Roman" panose="02020603050405020304" pitchFamily="18" charset="0"/>
                <a:cs typeface="Times New Roman" panose="02020603050405020304" pitchFamily="18" charset="0"/>
              </a:rPr>
              <a:t> – Database management</a:t>
            </a:r>
          </a:p>
          <a:p>
            <a:pPr>
              <a:lnSpc>
                <a:spcPct val="150000"/>
              </a:lnSpc>
            </a:pPr>
            <a:r>
              <a:rPr lang="en-IN" sz="1800" b="1" dirty="0">
                <a:latin typeface="Times New Roman" panose="02020603050405020304" pitchFamily="18" charset="0"/>
                <a:cs typeface="Times New Roman" panose="02020603050405020304" pitchFamily="18" charset="0"/>
              </a:rPr>
              <a:t>Git &amp; GitHub</a:t>
            </a:r>
            <a:r>
              <a:rPr lang="en-IN" sz="1800" dirty="0">
                <a:latin typeface="Times New Roman" panose="02020603050405020304" pitchFamily="18" charset="0"/>
                <a:cs typeface="Times New Roman" panose="02020603050405020304" pitchFamily="18" charset="0"/>
              </a:rPr>
              <a:t> – Version control</a:t>
            </a:r>
          </a:p>
        </p:txBody>
      </p:sp>
    </p:spTree>
    <p:extLst>
      <p:ext uri="{BB962C8B-B14F-4D97-AF65-F5344CB8AC3E}">
        <p14:creationId xmlns:p14="http://schemas.microsoft.com/office/powerpoint/2010/main" val="2212255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E7B8E-D6DF-0C57-699A-B76224D8D6A4}"/>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a:t>
            </a:r>
            <a:endParaRPr lang="en-IN" dirty="0"/>
          </a:p>
        </p:txBody>
      </p:sp>
      <p:sp>
        <p:nvSpPr>
          <p:cNvPr id="3" name="Text Placeholder 2">
            <a:extLst>
              <a:ext uri="{FF2B5EF4-FFF2-40B4-BE49-F238E27FC236}">
                <a16:creationId xmlns:a16="http://schemas.microsoft.com/office/drawing/2014/main" id="{7AC9DEA8-E3C2-F846-9042-5274577E921F}"/>
              </a:ext>
            </a:extLst>
          </p:cNvPr>
          <p:cNvSpPr>
            <a:spLocks noGrp="1"/>
          </p:cNvSpPr>
          <p:nvPr>
            <p:ph type="body" idx="1"/>
          </p:nvPr>
        </p:nvSpPr>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Internship allocation under the </a:t>
            </a:r>
            <a:r>
              <a:rPr lang="en-US" sz="1800" b="1" dirty="0">
                <a:latin typeface="Times New Roman" panose="02020603050405020304" pitchFamily="18" charset="0"/>
                <a:cs typeface="Times New Roman" panose="02020603050405020304" pitchFamily="18" charset="0"/>
              </a:rPr>
              <a:t>PM Internship Scheme</a:t>
            </a:r>
            <a:r>
              <a:rPr lang="en-US" sz="1800" dirty="0">
                <a:latin typeface="Times New Roman" panose="02020603050405020304" pitchFamily="18" charset="0"/>
                <a:cs typeface="Times New Roman" panose="02020603050405020304" pitchFamily="18" charset="0"/>
              </a:rPr>
              <a:t> is mostly manual or rule-based.</a:t>
            </a:r>
          </a:p>
          <a:p>
            <a:pPr>
              <a:lnSpc>
                <a:spcPct val="150000"/>
              </a:lnSpc>
            </a:pPr>
            <a:r>
              <a:rPr lang="en-US" sz="1800" dirty="0">
                <a:latin typeface="Times New Roman" panose="02020603050405020304" pitchFamily="18" charset="0"/>
                <a:cs typeface="Times New Roman" panose="02020603050405020304" pitchFamily="18" charset="0"/>
              </a:rPr>
              <a:t>Large number of students makes the process slow and inefficient.</a:t>
            </a:r>
          </a:p>
          <a:p>
            <a:pPr>
              <a:lnSpc>
                <a:spcPct val="150000"/>
              </a:lnSpc>
            </a:pPr>
            <a:r>
              <a:rPr lang="en-US" sz="1800" dirty="0">
                <a:latin typeface="Times New Roman" panose="02020603050405020304" pitchFamily="18" charset="0"/>
                <a:cs typeface="Times New Roman" panose="02020603050405020304" pitchFamily="18" charset="0"/>
              </a:rPr>
              <a:t>Skill mismatch occurs due to limited consideration of student interests and abilities.</a:t>
            </a:r>
          </a:p>
          <a:p>
            <a:pPr>
              <a:lnSpc>
                <a:spcPct val="150000"/>
              </a:lnSpc>
            </a:pPr>
            <a:r>
              <a:rPr lang="en-US" sz="1800" dirty="0">
                <a:latin typeface="Times New Roman" panose="02020603050405020304" pitchFamily="18" charset="0"/>
                <a:cs typeface="Times New Roman" panose="02020603050405020304" pitchFamily="18" charset="0"/>
              </a:rPr>
              <a:t>Lack of personalization results in poor internship experiences.</a:t>
            </a:r>
          </a:p>
          <a:p>
            <a:pPr>
              <a:lnSpc>
                <a:spcPct val="150000"/>
              </a:lnSpc>
            </a:pPr>
            <a:r>
              <a:rPr lang="en-US" sz="1800" dirty="0">
                <a:latin typeface="Times New Roman" panose="02020603050405020304" pitchFamily="18" charset="0"/>
                <a:cs typeface="Times New Roman" panose="02020603050405020304" pitchFamily="18" charset="0"/>
              </a:rPr>
              <a:t>Inequality in access affects students from rural and underprivileged backgrounds.</a:t>
            </a:r>
          </a:p>
          <a:p>
            <a:pPr>
              <a:lnSpc>
                <a:spcPct val="150000"/>
              </a:lnSpc>
            </a:pPr>
            <a:r>
              <a:rPr lang="en-US" sz="1800" dirty="0">
                <a:latin typeface="Times New Roman" panose="02020603050405020304" pitchFamily="18" charset="0"/>
                <a:cs typeface="Times New Roman" panose="02020603050405020304" pitchFamily="18" charset="0"/>
              </a:rPr>
              <a:t>Existing systems do not effectively use available student and internship data.</a:t>
            </a:r>
          </a:p>
          <a:p>
            <a:pPr>
              <a:lnSpc>
                <a:spcPct val="150000"/>
              </a:lnSpc>
            </a:pPr>
            <a:r>
              <a:rPr lang="en-US" sz="1800" dirty="0">
                <a:latin typeface="Times New Roman" panose="02020603050405020304" pitchFamily="18" charset="0"/>
                <a:cs typeface="Times New Roman" panose="02020603050405020304" pitchFamily="18" charset="0"/>
              </a:rPr>
              <a:t>Traditional approaches are not scalable for national-level programs.</a:t>
            </a:r>
          </a:p>
          <a:p>
            <a:pPr>
              <a:lnSpc>
                <a:spcPct val="150000"/>
              </a:lnSpc>
            </a:pPr>
            <a:r>
              <a:rPr lang="en-US" sz="1800" b="1" dirty="0">
                <a:latin typeface="Times New Roman" panose="02020603050405020304" pitchFamily="18" charset="0"/>
                <a:cs typeface="Times New Roman" panose="02020603050405020304" pitchFamily="18" charset="0"/>
              </a:rPr>
              <a:t>Need: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An AI-based, data-driven system is required to ensure fair, personalized, and scalable internship recommendations aligned with </a:t>
            </a:r>
            <a:r>
              <a:rPr lang="en-US" sz="1800" b="1" dirty="0">
                <a:latin typeface="Times New Roman" panose="02020603050405020304" pitchFamily="18" charset="0"/>
                <a:cs typeface="Times New Roman" panose="02020603050405020304" pitchFamily="18" charset="0"/>
              </a:rPr>
              <a:t>SDG 4 – Quality Education</a:t>
            </a:r>
            <a:endParaRPr lang="en-US" sz="1800" dirty="0">
              <a:latin typeface="Times New Roman" panose="02020603050405020304" pitchFamily="18" charset="0"/>
              <a:cs typeface="Times New Roman" panose="02020603050405020304" pitchFamily="18" charset="0"/>
            </a:endParaRP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3240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a:extLst>
              <a:ext uri="{FF2B5EF4-FFF2-40B4-BE49-F238E27FC236}">
                <a16:creationId xmlns:a16="http://schemas.microsoft.com/office/drawing/2014/main" id="{819689B6-FC96-6C14-FE18-A9807C8C5600}"/>
              </a:ext>
            </a:extLst>
          </p:cNvPr>
          <p:cNvSpPr>
            <a:spLocks noGrp="1"/>
          </p:cNvSpPr>
          <p:nvPr>
            <p:ph type="title"/>
          </p:nvPr>
        </p:nvSpPr>
        <p:spPr/>
        <p:txBody>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Existing Methods and Drawbacks</a:t>
            </a:r>
            <a:br>
              <a:rPr lang="en-US" dirty="0">
                <a:latin typeface="Cambria" panose="02040503050406030204" pitchFamily="18" charset="0"/>
                <a:ea typeface="Cambria" panose="02040503050406030204" pitchFamily="18" charset="0"/>
              </a:rPr>
            </a:br>
            <a:endParaRPr lang="en-IN" dirty="0"/>
          </a:p>
        </p:txBody>
      </p:sp>
      <p:sp>
        <p:nvSpPr>
          <p:cNvPr id="11" name="AutoShape 8">
            <a:extLst>
              <a:ext uri="{FF2B5EF4-FFF2-40B4-BE49-F238E27FC236}">
                <a16:creationId xmlns:a16="http://schemas.microsoft.com/office/drawing/2014/main" id="{DE1CE0A6-BDD8-F7B5-F799-31E0E52C4E05}"/>
              </a:ext>
            </a:extLst>
          </p:cNvPr>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lnSpcReduction="20000"/>
          </a:bodyPr>
          <a:lstStyle/>
          <a:p>
            <a:pPr marL="76200" indent="0">
              <a:lnSpc>
                <a:spcPct val="150000"/>
              </a:lnSpc>
              <a:buNone/>
            </a:pPr>
            <a:r>
              <a:rPr lang="en-US" sz="1800" b="1" dirty="0">
                <a:latin typeface="Times New Roman" panose="02020603050405020304" pitchFamily="18" charset="0"/>
                <a:cs typeface="Times New Roman" panose="02020603050405020304" pitchFamily="18" charset="0"/>
              </a:rPr>
              <a:t>Existing Methods</a:t>
            </a:r>
          </a:p>
          <a:p>
            <a:pPr>
              <a:lnSpc>
                <a:spcPct val="150000"/>
              </a:lnSpc>
            </a:pPr>
            <a:r>
              <a:rPr lang="en-US" sz="1800" dirty="0">
                <a:latin typeface="Times New Roman" panose="02020603050405020304" pitchFamily="18" charset="0"/>
                <a:cs typeface="Times New Roman" panose="02020603050405020304" pitchFamily="18" charset="0"/>
              </a:rPr>
              <a:t>Manual internship allocation by institutions or authorities</a:t>
            </a:r>
          </a:p>
          <a:p>
            <a:pPr>
              <a:lnSpc>
                <a:spcPct val="150000"/>
              </a:lnSpc>
            </a:pPr>
            <a:r>
              <a:rPr lang="en-US" sz="1800" dirty="0">
                <a:latin typeface="Times New Roman" panose="02020603050405020304" pitchFamily="18" charset="0"/>
                <a:cs typeface="Times New Roman" panose="02020603050405020304" pitchFamily="18" charset="0"/>
              </a:rPr>
              <a:t>Rule-based filtering using course, eligibility, or location</a:t>
            </a:r>
          </a:p>
          <a:p>
            <a:pPr>
              <a:lnSpc>
                <a:spcPct val="150000"/>
              </a:lnSpc>
            </a:pPr>
            <a:r>
              <a:rPr lang="en-US" sz="1800" dirty="0">
                <a:latin typeface="Times New Roman" panose="02020603050405020304" pitchFamily="18" charset="0"/>
                <a:cs typeface="Times New Roman" panose="02020603050405020304" pitchFamily="18" charset="0"/>
              </a:rPr>
              <a:t>Basic keyword matching between resumes and internship requirements</a:t>
            </a:r>
          </a:p>
          <a:p>
            <a:pPr>
              <a:lnSpc>
                <a:spcPct val="150000"/>
              </a:lnSpc>
            </a:pPr>
            <a:r>
              <a:rPr lang="en-US" sz="1800" dirty="0">
                <a:latin typeface="Times New Roman" panose="02020603050405020304" pitchFamily="18" charset="0"/>
                <a:cs typeface="Times New Roman" panose="02020603050405020304" pitchFamily="18" charset="0"/>
              </a:rPr>
              <a:t>First-come or merit-based selection methods</a:t>
            </a:r>
          </a:p>
          <a:p>
            <a:pPr marL="76200" indent="0">
              <a:lnSpc>
                <a:spcPct val="150000"/>
              </a:lnSpc>
              <a:buNone/>
            </a:pPr>
            <a:r>
              <a:rPr lang="en-US" sz="1800" b="1" dirty="0">
                <a:latin typeface="Times New Roman" panose="02020603050405020304" pitchFamily="18" charset="0"/>
                <a:cs typeface="Times New Roman" panose="02020603050405020304" pitchFamily="18" charset="0"/>
              </a:rPr>
              <a:t>Drawbacks</a:t>
            </a:r>
          </a:p>
          <a:p>
            <a:pPr>
              <a:lnSpc>
                <a:spcPct val="150000"/>
              </a:lnSpc>
            </a:pPr>
            <a:r>
              <a:rPr lang="en-US" sz="1800" dirty="0">
                <a:latin typeface="Times New Roman" panose="02020603050405020304" pitchFamily="18" charset="0"/>
                <a:cs typeface="Times New Roman" panose="02020603050405020304" pitchFamily="18" charset="0"/>
              </a:rPr>
              <a:t>Time-consuming and difficult to manage at large scale</a:t>
            </a:r>
          </a:p>
          <a:p>
            <a:pPr>
              <a:lnSpc>
                <a:spcPct val="150000"/>
              </a:lnSpc>
            </a:pPr>
            <a:r>
              <a:rPr lang="en-US" sz="1800" dirty="0">
                <a:latin typeface="Times New Roman" panose="02020603050405020304" pitchFamily="18" charset="0"/>
                <a:cs typeface="Times New Roman" panose="02020603050405020304" pitchFamily="18" charset="0"/>
              </a:rPr>
              <a:t>Poor skill-to-internship matching</a:t>
            </a:r>
          </a:p>
          <a:p>
            <a:pPr>
              <a:lnSpc>
                <a:spcPct val="150000"/>
              </a:lnSpc>
            </a:pPr>
            <a:r>
              <a:rPr lang="en-US" sz="1800" dirty="0">
                <a:latin typeface="Times New Roman" panose="02020603050405020304" pitchFamily="18" charset="0"/>
                <a:cs typeface="Times New Roman" panose="02020603050405020304" pitchFamily="18" charset="0"/>
              </a:rPr>
              <a:t>No personalization based on student interests and goals</a:t>
            </a:r>
          </a:p>
          <a:p>
            <a:pPr>
              <a:lnSpc>
                <a:spcPct val="150000"/>
              </a:lnSpc>
            </a:pPr>
            <a:r>
              <a:rPr lang="en-US" sz="1800" dirty="0">
                <a:latin typeface="Times New Roman" panose="02020603050405020304" pitchFamily="18" charset="0"/>
                <a:cs typeface="Times New Roman" panose="02020603050405020304" pitchFamily="18" charset="0"/>
              </a:rPr>
              <a:t>Possibility of bias and unequal access to opportunities</a:t>
            </a:r>
          </a:p>
          <a:p>
            <a:pPr>
              <a:lnSpc>
                <a:spcPct val="150000"/>
              </a:lnSpc>
            </a:pPr>
            <a:r>
              <a:rPr lang="en-US" sz="1800" dirty="0">
                <a:latin typeface="Times New Roman" panose="02020603050405020304" pitchFamily="18" charset="0"/>
                <a:cs typeface="Times New Roman" panose="02020603050405020304" pitchFamily="18" charset="0"/>
              </a:rPr>
              <a:t>Inefficient use of available student and internship data</a:t>
            </a:r>
          </a:p>
          <a:p>
            <a:pPr>
              <a:lnSpc>
                <a:spcPct val="150000"/>
              </a:lnSpc>
            </a:pPr>
            <a:r>
              <a:rPr lang="en-US" sz="1800" dirty="0">
                <a:latin typeface="Times New Roman" panose="02020603050405020304" pitchFamily="18" charset="0"/>
                <a:cs typeface="Times New Roman" panose="02020603050405020304" pitchFamily="18" charset="0"/>
              </a:rPr>
              <a:t>Not suitable for large programs like the </a:t>
            </a:r>
            <a:r>
              <a:rPr lang="en-US" sz="1800" b="1" dirty="0">
                <a:latin typeface="Times New Roman" panose="02020603050405020304" pitchFamily="18" charset="0"/>
                <a:cs typeface="Times New Roman" panose="02020603050405020304" pitchFamily="18" charset="0"/>
              </a:rPr>
              <a:t>PM Internship Scheme</a:t>
            </a:r>
            <a:endParaRPr lang="en-US" sz="1800" dirty="0">
              <a:latin typeface="Times New Roman" panose="02020603050405020304" pitchFamily="18" charset="0"/>
              <a:cs typeface="Times New Roman" panose="02020603050405020304" pitchFamily="18" charset="0"/>
            </a:endParaRP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269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ext Placeholder 1">
            <a:extLst>
              <a:ext uri="{FF2B5EF4-FFF2-40B4-BE49-F238E27FC236}">
                <a16:creationId xmlns:a16="http://schemas.microsoft.com/office/drawing/2014/main" id="{78C7A9D5-1BE4-0D69-8F72-A4E50ADF4434}"/>
              </a:ext>
            </a:extLst>
          </p:cNvPr>
          <p:cNvSpPr>
            <a:spLocks noGrp="1"/>
          </p:cNvSpPr>
          <p:nvPr>
            <p:ph type="body" idx="1"/>
          </p:nvPr>
        </p:nvSpPr>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AI-driven internship matching instead of manual or rule-based selection</a:t>
            </a:r>
          </a:p>
          <a:p>
            <a:pPr>
              <a:lnSpc>
                <a:spcPct val="150000"/>
              </a:lnSpc>
            </a:pPr>
            <a:r>
              <a:rPr lang="en-US" sz="1800" dirty="0">
                <a:latin typeface="Times New Roman" panose="02020603050405020304" pitchFamily="18" charset="0"/>
                <a:cs typeface="Times New Roman" panose="02020603050405020304" pitchFamily="18" charset="0"/>
              </a:rPr>
              <a:t>Personalized recommendations based on skills, interests, and career goals</a:t>
            </a:r>
          </a:p>
          <a:p>
            <a:pPr>
              <a:lnSpc>
                <a:spcPct val="150000"/>
              </a:lnSpc>
            </a:pPr>
            <a:r>
              <a:rPr lang="en-US" sz="1800" dirty="0">
                <a:latin typeface="Times New Roman" panose="02020603050405020304" pitchFamily="18" charset="0"/>
                <a:cs typeface="Times New Roman" panose="02020603050405020304" pitchFamily="18" charset="0"/>
              </a:rPr>
              <a:t>Fair and unbiased allocation ensuring equal opportunities for all students</a:t>
            </a:r>
          </a:p>
          <a:p>
            <a:pPr>
              <a:lnSpc>
                <a:spcPct val="150000"/>
              </a:lnSpc>
            </a:pPr>
            <a:r>
              <a:rPr lang="en-US" sz="1800" dirty="0">
                <a:latin typeface="Times New Roman" panose="02020603050405020304" pitchFamily="18" charset="0"/>
                <a:cs typeface="Times New Roman" panose="02020603050405020304" pitchFamily="18" charset="0"/>
              </a:rPr>
              <a:t>Government-scale recommendation system designed for the </a:t>
            </a:r>
            <a:r>
              <a:rPr lang="en-US" sz="1800" b="1" dirty="0">
                <a:latin typeface="Times New Roman" panose="02020603050405020304" pitchFamily="18" charset="0"/>
                <a:cs typeface="Times New Roman" panose="02020603050405020304" pitchFamily="18" charset="0"/>
              </a:rPr>
              <a:t>PM Internship Scheme</a:t>
            </a:r>
            <a:endParaRPr lang="en-US" sz="1800" dirty="0">
              <a:latin typeface="Times New Roman" panose="02020603050405020304" pitchFamily="18" charset="0"/>
              <a:cs typeface="Times New Roman" panose="02020603050405020304" pitchFamily="18" charset="0"/>
            </a:endParaRPr>
          </a:p>
          <a:p>
            <a:pPr>
              <a:lnSpc>
                <a:spcPct val="150000"/>
              </a:lnSpc>
            </a:pPr>
            <a:r>
              <a:rPr lang="en-US" sz="1800" dirty="0">
                <a:latin typeface="Times New Roman" panose="02020603050405020304" pitchFamily="18" charset="0"/>
                <a:cs typeface="Times New Roman" panose="02020603050405020304" pitchFamily="18" charset="0"/>
              </a:rPr>
              <a:t>Continuous learning using student feedback to improve accuracy</a:t>
            </a:r>
          </a:p>
          <a:p>
            <a:pPr>
              <a:lnSpc>
                <a:spcPct val="150000"/>
              </a:lnSpc>
            </a:pPr>
            <a:r>
              <a:rPr lang="en-US" sz="1800" dirty="0">
                <a:latin typeface="Times New Roman" panose="02020603050405020304" pitchFamily="18" charset="0"/>
                <a:cs typeface="Times New Roman" panose="02020603050405020304" pitchFamily="18" charset="0"/>
              </a:rPr>
              <a:t>Skill-focused matching rather than only academic qualifications</a:t>
            </a:r>
          </a:p>
          <a:p>
            <a:pPr>
              <a:lnSpc>
                <a:spcPct val="150000"/>
              </a:lnSpc>
            </a:pPr>
            <a:r>
              <a:rPr lang="en-US" sz="1800" dirty="0">
                <a:latin typeface="Times New Roman" panose="02020603050405020304" pitchFamily="18" charset="0"/>
                <a:cs typeface="Times New Roman" panose="02020603050405020304" pitchFamily="18" charset="0"/>
              </a:rPr>
              <a:t>Strong alignment with </a:t>
            </a:r>
            <a:r>
              <a:rPr lang="en-US" sz="1800" b="1" dirty="0">
                <a:latin typeface="Times New Roman" panose="02020603050405020304" pitchFamily="18" charset="0"/>
                <a:cs typeface="Times New Roman" panose="02020603050405020304" pitchFamily="18" charset="0"/>
              </a:rPr>
              <a:t>SDG 4 – Quality Education</a:t>
            </a:r>
            <a:endParaRPr lang="en-US" sz="1800" dirty="0">
              <a:latin typeface="Times New Roman" panose="02020603050405020304" pitchFamily="18" charset="0"/>
              <a:cs typeface="Times New Roman" panose="02020603050405020304" pitchFamily="18" charset="0"/>
            </a:endParaRPr>
          </a:p>
          <a:p>
            <a:pPr>
              <a:lnSpc>
                <a:spcPct val="150000"/>
              </a:lnSpc>
            </a:pPr>
            <a:r>
              <a:rPr lang="en-US" sz="1800" dirty="0">
                <a:latin typeface="Times New Roman" panose="02020603050405020304" pitchFamily="18" charset="0"/>
                <a:cs typeface="Times New Roman" panose="02020603050405020304" pitchFamily="18" charset="0"/>
              </a:rPr>
              <a:t>Scalable and transparent system suitable for national deployment</a:t>
            </a:r>
          </a:p>
          <a:p>
            <a:pPr>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C66F178-5ABF-FD98-FFFD-3C28672B6088}"/>
              </a:ext>
            </a:extLst>
          </p:cNvPr>
          <p:cNvSpPr txBox="1"/>
          <p:nvPr/>
        </p:nvSpPr>
        <p:spPr>
          <a:xfrm>
            <a:off x="599440" y="349032"/>
            <a:ext cx="6725920" cy="584775"/>
          </a:xfrm>
          <a:prstGeom prst="rect">
            <a:avLst/>
          </a:prstGeom>
          <a:noFill/>
        </p:spPr>
        <p:txBody>
          <a:bodyPr wrap="square">
            <a:spAutoFit/>
          </a:bodyPr>
          <a:lstStyle/>
          <a:p>
            <a:r>
              <a:rPr lang="en-US" sz="3200" b="1" dirty="0">
                <a:solidFill>
                  <a:schemeClr val="bg2"/>
                </a:solidFill>
                <a:latin typeface="Candara" panose="020E0502030303020204" pitchFamily="34" charset="0"/>
              </a:rPr>
              <a:t>Innovation / Novel Contributions</a:t>
            </a:r>
          </a:p>
        </p:txBody>
      </p:sp>
    </p:spTree>
    <p:extLst>
      <p:ext uri="{BB962C8B-B14F-4D97-AF65-F5344CB8AC3E}">
        <p14:creationId xmlns:p14="http://schemas.microsoft.com/office/powerpoint/2010/main" val="3106682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83920" y="274499"/>
            <a:ext cx="10668000" cy="487500"/>
          </a:xfrm>
          <a:prstGeom prst="rect">
            <a:avLst/>
          </a:prstGeom>
          <a:noFill/>
          <a:ln>
            <a:noFill/>
          </a:ln>
        </p:spPr>
        <p:txBody>
          <a:bodyPr spcFirstLastPara="1" wrap="square" lIns="91425" tIns="45700" rIns="91425" bIns="45700" anchor="ctr" anchorCtr="0">
            <a:noAutofit/>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Git-hub Link</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323116"/>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pPr>
            <a:r>
              <a:rPr lang="en-US" sz="1800" dirty="0">
                <a:solidFill>
                  <a:schemeClr val="bg2">
                    <a:lumMod val="60000"/>
                    <a:lumOff val="40000"/>
                  </a:schemeClr>
                </a:solidFill>
                <a:latin typeface="Times New Roman" pitchFamily="18" charset="0"/>
                <a:ea typeface="Cambria" panose="02040503050406030204" pitchFamily="18" charset="0"/>
                <a:cs typeface="Times New Roman" pitchFamily="18" charset="0"/>
              </a:rPr>
              <a:t>https://github.com/Sindhu9ly/ISE_25</a:t>
            </a:r>
          </a:p>
        </p:txBody>
      </p:sp>
    </p:spTree>
    <p:extLst>
      <p:ext uri="{BB962C8B-B14F-4D97-AF65-F5344CB8AC3E}">
        <p14:creationId xmlns:p14="http://schemas.microsoft.com/office/powerpoint/2010/main" val="3934379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44D0-9CC8-CB25-72E2-32FB36DA1F07}"/>
              </a:ext>
            </a:extLst>
          </p:cNvPr>
          <p:cNvSpPr>
            <a:spLocks noGrp="1"/>
          </p:cNvSpPr>
          <p:nvPr>
            <p:ph type="title"/>
          </p:nvPr>
        </p:nvSpPr>
        <p:spPr/>
        <p:txBody>
          <a:bodyPr/>
          <a:lstStyle/>
          <a:p>
            <a:r>
              <a:rPr lang="en-IN" dirty="0"/>
              <a:t>Flow Diagram</a:t>
            </a:r>
          </a:p>
        </p:txBody>
      </p:sp>
      <p:pic>
        <p:nvPicPr>
          <p:cNvPr id="7" name="Picture 6">
            <a:extLst>
              <a:ext uri="{FF2B5EF4-FFF2-40B4-BE49-F238E27FC236}">
                <a16:creationId xmlns:a16="http://schemas.microsoft.com/office/drawing/2014/main" id="{A3235211-9A56-117E-E914-7266E84A3157}"/>
              </a:ext>
            </a:extLst>
          </p:cNvPr>
          <p:cNvPicPr>
            <a:picLocks noChangeAspect="1"/>
          </p:cNvPicPr>
          <p:nvPr/>
        </p:nvPicPr>
        <p:blipFill>
          <a:blip r:embed="rId2"/>
          <a:stretch>
            <a:fillRect/>
          </a:stretch>
        </p:blipFill>
        <p:spPr>
          <a:xfrm>
            <a:off x="2371012" y="1026369"/>
            <a:ext cx="3466272" cy="5106956"/>
          </a:xfrm>
          <a:prstGeom prst="rect">
            <a:avLst/>
          </a:prstGeom>
        </p:spPr>
      </p:pic>
    </p:spTree>
    <p:extLst>
      <p:ext uri="{BB962C8B-B14F-4D97-AF65-F5344CB8AC3E}">
        <p14:creationId xmlns:p14="http://schemas.microsoft.com/office/powerpoint/2010/main" val="4280023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3E4A748-64D5-7692-1988-E0949735EAD6}"/>
              </a:ext>
            </a:extLst>
          </p:cNvPr>
          <p:cNvSpPr>
            <a:spLocks noGrp="1"/>
          </p:cNvSpPr>
          <p:nvPr>
            <p:ph type="title"/>
          </p:nvPr>
        </p:nvSpPr>
        <p:spPr/>
        <p:txBody>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Timeline of the Project</a:t>
            </a:r>
            <a:br>
              <a:rPr lang="en-US" dirty="0">
                <a:latin typeface="Cambria" panose="02040503050406030204" pitchFamily="18" charset="0"/>
                <a:ea typeface="Cambria" panose="02040503050406030204" pitchFamily="18" charset="0"/>
              </a:rPr>
            </a:br>
            <a:endParaRPr lang="en-IN" dirty="0"/>
          </a:p>
        </p:txBody>
      </p:sp>
      <p:graphicFrame>
        <p:nvGraphicFramePr>
          <p:cNvPr id="8" name="Table 7">
            <a:extLst>
              <a:ext uri="{FF2B5EF4-FFF2-40B4-BE49-F238E27FC236}">
                <a16:creationId xmlns:a16="http://schemas.microsoft.com/office/drawing/2014/main" id="{6709C89E-2BB9-2D44-50B0-C76BFB01D48B}"/>
              </a:ext>
            </a:extLst>
          </p:cNvPr>
          <p:cNvGraphicFramePr>
            <a:graphicFrameLocks noGrp="1"/>
          </p:cNvGraphicFramePr>
          <p:nvPr>
            <p:extLst>
              <p:ext uri="{D42A27DB-BD31-4B8C-83A1-F6EECF244321}">
                <p14:modId xmlns:p14="http://schemas.microsoft.com/office/powerpoint/2010/main" val="3364864465"/>
              </p:ext>
            </p:extLst>
          </p:nvPr>
        </p:nvGraphicFramePr>
        <p:xfrm>
          <a:off x="1188720" y="1361440"/>
          <a:ext cx="8971280" cy="2621280"/>
        </p:xfrm>
        <a:graphic>
          <a:graphicData uri="http://schemas.openxmlformats.org/drawingml/2006/table">
            <a:tbl>
              <a:tblPr firstRow="1" bandRow="1">
                <a:tableStyleId>{5C22544A-7EE6-4342-B048-85BDC9FD1C3A}</a:tableStyleId>
              </a:tblPr>
              <a:tblGrid>
                <a:gridCol w="2242820">
                  <a:extLst>
                    <a:ext uri="{9D8B030D-6E8A-4147-A177-3AD203B41FA5}">
                      <a16:colId xmlns:a16="http://schemas.microsoft.com/office/drawing/2014/main" val="3548810715"/>
                    </a:ext>
                  </a:extLst>
                </a:gridCol>
                <a:gridCol w="2242820">
                  <a:extLst>
                    <a:ext uri="{9D8B030D-6E8A-4147-A177-3AD203B41FA5}">
                      <a16:colId xmlns:a16="http://schemas.microsoft.com/office/drawing/2014/main" val="1876199977"/>
                    </a:ext>
                  </a:extLst>
                </a:gridCol>
                <a:gridCol w="2242820">
                  <a:extLst>
                    <a:ext uri="{9D8B030D-6E8A-4147-A177-3AD203B41FA5}">
                      <a16:colId xmlns:a16="http://schemas.microsoft.com/office/drawing/2014/main" val="1550485294"/>
                    </a:ext>
                  </a:extLst>
                </a:gridCol>
                <a:gridCol w="2242820">
                  <a:extLst>
                    <a:ext uri="{9D8B030D-6E8A-4147-A177-3AD203B41FA5}">
                      <a16:colId xmlns:a16="http://schemas.microsoft.com/office/drawing/2014/main" val="2302161221"/>
                    </a:ext>
                  </a:extLst>
                </a:gridCol>
              </a:tblGrid>
              <a:tr h="436880">
                <a:tc>
                  <a:txBody>
                    <a:bodyPr/>
                    <a:lstStyle/>
                    <a:p>
                      <a:pPr algn="just">
                        <a:buNone/>
                      </a:pPr>
                      <a:r>
                        <a:rPr lang="en-IN" b="1" dirty="0"/>
                        <a:t>Sl. No.</a:t>
                      </a:r>
                      <a:endParaRPr lang="en-IN" dirty="0"/>
                    </a:p>
                  </a:txBody>
                  <a:tcPr anchor="ctr"/>
                </a:tc>
                <a:tc>
                  <a:txBody>
                    <a:bodyPr/>
                    <a:lstStyle/>
                    <a:p>
                      <a:pPr algn="just">
                        <a:buNone/>
                      </a:pPr>
                      <a:r>
                        <a:rPr lang="en-IN" b="1"/>
                        <a:t>Activity</a:t>
                      </a:r>
                      <a:endParaRPr lang="en-IN"/>
                    </a:p>
                  </a:txBody>
                  <a:tcPr anchor="ctr"/>
                </a:tc>
                <a:tc>
                  <a:txBody>
                    <a:bodyPr/>
                    <a:lstStyle/>
                    <a:p>
                      <a:pPr algn="just">
                        <a:buNone/>
                      </a:pPr>
                      <a:r>
                        <a:rPr lang="en-IN" b="1"/>
                        <a:t>Start Date</a:t>
                      </a:r>
                      <a:endParaRPr lang="en-IN"/>
                    </a:p>
                  </a:txBody>
                  <a:tcPr anchor="ctr"/>
                </a:tc>
                <a:tc>
                  <a:txBody>
                    <a:bodyPr/>
                    <a:lstStyle/>
                    <a:p>
                      <a:pPr algn="just">
                        <a:buNone/>
                      </a:pPr>
                      <a:r>
                        <a:rPr lang="en-IN" b="1"/>
                        <a:t>End Date</a:t>
                      </a:r>
                      <a:endParaRPr lang="en-IN"/>
                    </a:p>
                  </a:txBody>
                  <a:tcPr anchor="ctr"/>
                </a:tc>
                <a:extLst>
                  <a:ext uri="{0D108BD9-81ED-4DB2-BD59-A6C34878D82A}">
                    <a16:rowId xmlns:a16="http://schemas.microsoft.com/office/drawing/2014/main" val="225055942"/>
                  </a:ext>
                </a:extLst>
              </a:tr>
              <a:tr h="436880">
                <a:tc>
                  <a:txBody>
                    <a:bodyPr/>
                    <a:lstStyle/>
                    <a:p>
                      <a:pPr algn="just">
                        <a:buNone/>
                      </a:pPr>
                      <a:r>
                        <a:rPr lang="en-IN" dirty="0"/>
                        <a:t>1</a:t>
                      </a:r>
                    </a:p>
                  </a:txBody>
                  <a:tcPr anchor="ctr"/>
                </a:tc>
                <a:tc>
                  <a:txBody>
                    <a:bodyPr/>
                    <a:lstStyle/>
                    <a:p>
                      <a:pPr algn="just">
                        <a:buNone/>
                      </a:pPr>
                      <a:r>
                        <a:rPr lang="en-IN" dirty="0"/>
                        <a:t>Review – 1</a:t>
                      </a:r>
                    </a:p>
                  </a:txBody>
                  <a:tcPr anchor="ctr"/>
                </a:tc>
                <a:tc>
                  <a:txBody>
                    <a:bodyPr/>
                    <a:lstStyle/>
                    <a:p>
                      <a:pPr algn="just">
                        <a:buNone/>
                      </a:pPr>
                      <a:r>
                        <a:rPr lang="en-IN"/>
                        <a:t>10-01-2026</a:t>
                      </a:r>
                    </a:p>
                  </a:txBody>
                  <a:tcPr anchor="ctr"/>
                </a:tc>
                <a:tc>
                  <a:txBody>
                    <a:bodyPr/>
                    <a:lstStyle/>
                    <a:p>
                      <a:pPr algn="just">
                        <a:buNone/>
                      </a:pPr>
                      <a:r>
                        <a:rPr lang="en-IN"/>
                        <a:t>16-01-2026</a:t>
                      </a:r>
                    </a:p>
                  </a:txBody>
                  <a:tcPr anchor="ctr"/>
                </a:tc>
                <a:extLst>
                  <a:ext uri="{0D108BD9-81ED-4DB2-BD59-A6C34878D82A}">
                    <a16:rowId xmlns:a16="http://schemas.microsoft.com/office/drawing/2014/main" val="1520346127"/>
                  </a:ext>
                </a:extLst>
              </a:tr>
              <a:tr h="436880">
                <a:tc>
                  <a:txBody>
                    <a:bodyPr/>
                    <a:lstStyle/>
                    <a:p>
                      <a:pPr algn="just">
                        <a:buNone/>
                      </a:pPr>
                      <a:r>
                        <a:rPr lang="en-IN" dirty="0"/>
                        <a:t>2</a:t>
                      </a:r>
                    </a:p>
                  </a:txBody>
                  <a:tcPr anchor="ctr"/>
                </a:tc>
                <a:tc>
                  <a:txBody>
                    <a:bodyPr/>
                    <a:lstStyle/>
                    <a:p>
                      <a:pPr algn="just">
                        <a:buNone/>
                      </a:pPr>
                      <a:r>
                        <a:rPr lang="en-IN" dirty="0"/>
                        <a:t>Review – 2</a:t>
                      </a:r>
                    </a:p>
                  </a:txBody>
                  <a:tcPr anchor="ctr"/>
                </a:tc>
                <a:tc>
                  <a:txBody>
                    <a:bodyPr/>
                    <a:lstStyle/>
                    <a:p>
                      <a:pPr algn="just">
                        <a:buNone/>
                      </a:pPr>
                      <a:r>
                        <a:rPr lang="en-IN"/>
                        <a:t>31-01-2026</a:t>
                      </a:r>
                    </a:p>
                  </a:txBody>
                  <a:tcPr anchor="ctr"/>
                </a:tc>
                <a:tc>
                  <a:txBody>
                    <a:bodyPr/>
                    <a:lstStyle/>
                    <a:p>
                      <a:pPr algn="just">
                        <a:buNone/>
                      </a:pPr>
                      <a:r>
                        <a:rPr lang="en-IN"/>
                        <a:t>06-02-2026</a:t>
                      </a:r>
                    </a:p>
                  </a:txBody>
                  <a:tcPr anchor="ctr"/>
                </a:tc>
                <a:extLst>
                  <a:ext uri="{0D108BD9-81ED-4DB2-BD59-A6C34878D82A}">
                    <a16:rowId xmlns:a16="http://schemas.microsoft.com/office/drawing/2014/main" val="484259302"/>
                  </a:ext>
                </a:extLst>
              </a:tr>
              <a:tr h="436880">
                <a:tc>
                  <a:txBody>
                    <a:bodyPr/>
                    <a:lstStyle/>
                    <a:p>
                      <a:pPr algn="just">
                        <a:buNone/>
                      </a:pPr>
                      <a:r>
                        <a:rPr lang="en-IN"/>
                        <a:t>3</a:t>
                      </a:r>
                    </a:p>
                  </a:txBody>
                  <a:tcPr anchor="ctr"/>
                </a:tc>
                <a:tc>
                  <a:txBody>
                    <a:bodyPr/>
                    <a:lstStyle/>
                    <a:p>
                      <a:pPr algn="just">
                        <a:buNone/>
                      </a:pPr>
                      <a:r>
                        <a:rPr lang="en-IN" dirty="0"/>
                        <a:t>Review – 3</a:t>
                      </a:r>
                    </a:p>
                  </a:txBody>
                  <a:tcPr anchor="ctr"/>
                </a:tc>
                <a:tc>
                  <a:txBody>
                    <a:bodyPr/>
                    <a:lstStyle/>
                    <a:p>
                      <a:pPr algn="just">
                        <a:buNone/>
                      </a:pPr>
                      <a:r>
                        <a:rPr lang="en-IN"/>
                        <a:t>28-02-2026</a:t>
                      </a:r>
                    </a:p>
                  </a:txBody>
                  <a:tcPr anchor="ctr"/>
                </a:tc>
                <a:tc>
                  <a:txBody>
                    <a:bodyPr/>
                    <a:lstStyle/>
                    <a:p>
                      <a:pPr algn="just">
                        <a:buNone/>
                      </a:pPr>
                      <a:r>
                        <a:rPr lang="en-IN"/>
                        <a:t>06-03-2026</a:t>
                      </a:r>
                    </a:p>
                  </a:txBody>
                  <a:tcPr anchor="ctr"/>
                </a:tc>
                <a:extLst>
                  <a:ext uri="{0D108BD9-81ED-4DB2-BD59-A6C34878D82A}">
                    <a16:rowId xmlns:a16="http://schemas.microsoft.com/office/drawing/2014/main" val="4178452527"/>
                  </a:ext>
                </a:extLst>
              </a:tr>
              <a:tr h="436880">
                <a:tc>
                  <a:txBody>
                    <a:bodyPr/>
                    <a:lstStyle/>
                    <a:p>
                      <a:pPr algn="just">
                        <a:buNone/>
                      </a:pPr>
                      <a:r>
                        <a:rPr lang="en-IN"/>
                        <a:t>4</a:t>
                      </a:r>
                    </a:p>
                  </a:txBody>
                  <a:tcPr anchor="ctr"/>
                </a:tc>
                <a:tc>
                  <a:txBody>
                    <a:bodyPr/>
                    <a:lstStyle/>
                    <a:p>
                      <a:pPr algn="just">
                        <a:buNone/>
                      </a:pPr>
                      <a:r>
                        <a:rPr lang="en-IN" dirty="0"/>
                        <a:t>Review – 4</a:t>
                      </a:r>
                    </a:p>
                  </a:txBody>
                  <a:tcPr anchor="ctr"/>
                </a:tc>
                <a:tc>
                  <a:txBody>
                    <a:bodyPr/>
                    <a:lstStyle/>
                    <a:p>
                      <a:pPr algn="just">
                        <a:buNone/>
                      </a:pPr>
                      <a:r>
                        <a:rPr lang="en-IN" dirty="0"/>
                        <a:t>03-04-2026</a:t>
                      </a:r>
                    </a:p>
                  </a:txBody>
                  <a:tcPr anchor="ctr"/>
                </a:tc>
                <a:tc>
                  <a:txBody>
                    <a:bodyPr/>
                    <a:lstStyle/>
                    <a:p>
                      <a:pPr algn="just">
                        <a:buNone/>
                      </a:pPr>
                      <a:r>
                        <a:rPr lang="en-IN"/>
                        <a:t>09-04-2026</a:t>
                      </a:r>
                    </a:p>
                  </a:txBody>
                  <a:tcPr anchor="ctr"/>
                </a:tc>
                <a:extLst>
                  <a:ext uri="{0D108BD9-81ED-4DB2-BD59-A6C34878D82A}">
                    <a16:rowId xmlns:a16="http://schemas.microsoft.com/office/drawing/2014/main" val="1909046398"/>
                  </a:ext>
                </a:extLst>
              </a:tr>
              <a:tr h="436880">
                <a:tc>
                  <a:txBody>
                    <a:bodyPr/>
                    <a:lstStyle/>
                    <a:p>
                      <a:pPr algn="just">
                        <a:buNone/>
                      </a:pPr>
                      <a:r>
                        <a:rPr lang="en-IN"/>
                        <a:t>5</a:t>
                      </a:r>
                    </a:p>
                  </a:txBody>
                  <a:tcPr anchor="ctr"/>
                </a:tc>
                <a:tc>
                  <a:txBody>
                    <a:bodyPr/>
                    <a:lstStyle/>
                    <a:p>
                      <a:pPr algn="just">
                        <a:buNone/>
                      </a:pPr>
                      <a:r>
                        <a:rPr lang="en-IN" dirty="0"/>
                        <a:t>Final Viva</a:t>
                      </a:r>
                    </a:p>
                  </a:txBody>
                  <a:tcPr anchor="ctr"/>
                </a:tc>
                <a:tc>
                  <a:txBody>
                    <a:bodyPr/>
                    <a:lstStyle/>
                    <a:p>
                      <a:pPr algn="just">
                        <a:buNone/>
                      </a:pPr>
                      <a:r>
                        <a:rPr lang="en-IN" dirty="0"/>
                        <a:t>20-04-2026</a:t>
                      </a:r>
                    </a:p>
                  </a:txBody>
                  <a:tcPr anchor="ctr"/>
                </a:tc>
                <a:tc>
                  <a:txBody>
                    <a:bodyPr/>
                    <a:lstStyle/>
                    <a:p>
                      <a:pPr algn="just">
                        <a:buNone/>
                      </a:pPr>
                      <a:r>
                        <a:rPr lang="en-IN" dirty="0"/>
                        <a:t>26-04-2026</a:t>
                      </a:r>
                    </a:p>
                  </a:txBody>
                  <a:tcPr anchor="ctr"/>
                </a:tc>
                <a:extLst>
                  <a:ext uri="{0D108BD9-81ED-4DB2-BD59-A6C34878D82A}">
                    <a16:rowId xmlns:a16="http://schemas.microsoft.com/office/drawing/2014/main" val="83481650"/>
                  </a:ext>
                </a:extLst>
              </a:tr>
            </a:tbl>
          </a:graphicData>
        </a:graphic>
      </p:graphicFrame>
    </p:spTree>
    <p:extLst>
      <p:ext uri="{BB962C8B-B14F-4D97-AF65-F5344CB8AC3E}">
        <p14:creationId xmlns:p14="http://schemas.microsoft.com/office/powerpoint/2010/main" val="3121866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B042E-AE98-0D72-0D89-52CB3AD7AF9B}"/>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Timeline of the Project</a:t>
            </a:r>
            <a:r>
              <a:rPr lang="en-GB" dirty="0">
                <a:latin typeface="Cambria" panose="02040503050406030204" pitchFamily="18" charset="0"/>
                <a:ea typeface="Cambria" panose="02040503050406030204" pitchFamily="18" charset="0"/>
              </a:rPr>
              <a:t> (Gantt Chart)</a:t>
            </a:r>
            <a:endParaRPr lang="en-IN" dirty="0"/>
          </a:p>
        </p:txBody>
      </p:sp>
      <p:sp>
        <p:nvSpPr>
          <p:cNvPr id="3" name="Text Placeholder 2">
            <a:extLst>
              <a:ext uri="{FF2B5EF4-FFF2-40B4-BE49-F238E27FC236}">
                <a16:creationId xmlns:a16="http://schemas.microsoft.com/office/drawing/2014/main" id="{A8613D4A-1398-3842-AF8B-6E557CD23E22}"/>
              </a:ext>
            </a:extLst>
          </p:cNvPr>
          <p:cNvSpPr>
            <a:spLocks noGrp="1"/>
          </p:cNvSpPr>
          <p:nvPr>
            <p:ph type="body" idx="1"/>
          </p:nvPr>
        </p:nvSpPr>
        <p:spPr/>
        <p:txBody>
          <a:bodyPr/>
          <a:lstStyle/>
          <a:p>
            <a:pPr marL="76200" indent="0">
              <a:buNone/>
            </a:pPr>
            <a:endParaRPr lang="en-IN" dirty="0"/>
          </a:p>
        </p:txBody>
      </p:sp>
      <p:pic>
        <p:nvPicPr>
          <p:cNvPr id="4" name="Picture 3">
            <a:extLst>
              <a:ext uri="{FF2B5EF4-FFF2-40B4-BE49-F238E27FC236}">
                <a16:creationId xmlns:a16="http://schemas.microsoft.com/office/drawing/2014/main" id="{E84E1A43-CE3C-D682-92C3-6A6CABA9B295}"/>
              </a:ext>
            </a:extLst>
          </p:cNvPr>
          <p:cNvPicPr>
            <a:picLocks noChangeAspect="1"/>
          </p:cNvPicPr>
          <p:nvPr/>
        </p:nvPicPr>
        <p:blipFill>
          <a:blip r:embed="rId2"/>
          <a:stretch>
            <a:fillRect/>
          </a:stretch>
        </p:blipFill>
        <p:spPr>
          <a:xfrm>
            <a:off x="162232" y="1116576"/>
            <a:ext cx="11867535" cy="4831172"/>
          </a:xfrm>
          <a:prstGeom prst="rect">
            <a:avLst/>
          </a:prstGeom>
        </p:spPr>
      </p:pic>
    </p:spTree>
    <p:extLst>
      <p:ext uri="{BB962C8B-B14F-4D97-AF65-F5344CB8AC3E}">
        <p14:creationId xmlns:p14="http://schemas.microsoft.com/office/powerpoint/2010/main" val="2722845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CE47C-B08B-6637-F0B2-BB12C7EC83A2}"/>
              </a:ext>
            </a:extLst>
          </p:cNvPr>
          <p:cNvSpPr>
            <a:spLocks noGrp="1"/>
          </p:cNvSpPr>
          <p:nvPr>
            <p:ph type="title"/>
          </p:nvPr>
        </p:nvSpPr>
        <p:spPr/>
        <p:txBody>
          <a:bodyPr/>
          <a:lstStyle/>
          <a:p>
            <a:br>
              <a:rPr lang="en-IN" dirty="0"/>
            </a:br>
            <a:r>
              <a:rPr lang="en-IN" dirty="0"/>
              <a:t>References</a:t>
            </a:r>
            <a:br>
              <a:rPr lang="en-IN" dirty="0"/>
            </a:br>
            <a:endParaRPr lang="en-IN" dirty="0"/>
          </a:p>
        </p:txBody>
      </p:sp>
      <p:sp>
        <p:nvSpPr>
          <p:cNvPr id="4" name="Rectangle 1">
            <a:extLst>
              <a:ext uri="{FF2B5EF4-FFF2-40B4-BE49-F238E27FC236}">
                <a16:creationId xmlns:a16="http://schemas.microsoft.com/office/drawing/2014/main" id="{3F4049F6-C603-61AD-8195-07F0ED6FCD47}"/>
              </a:ext>
            </a:extLst>
          </p:cNvPr>
          <p:cNvSpPr>
            <a:spLocks noGrp="1" noChangeArrowheads="1"/>
          </p:cNvSpPr>
          <p:nvPr>
            <p:ph type="body" idx="1"/>
          </p:nvPr>
        </p:nvSpPr>
        <p:spPr bwMode="auto">
          <a:xfrm>
            <a:off x="375920" y="804643"/>
            <a:ext cx="11334299" cy="4142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endParaRPr lang="en-IN" sz="1800" b="1" dirty="0"/>
          </a:p>
          <a:p>
            <a:r>
              <a:rPr lang="en-IN" sz="1800" dirty="0"/>
              <a:t>Government of India, </a:t>
            </a:r>
            <a:r>
              <a:rPr lang="en-IN" sz="1800" i="1" dirty="0"/>
              <a:t>PM Internship Scheme</a:t>
            </a:r>
            <a:r>
              <a:rPr lang="en-IN" sz="1800" dirty="0"/>
              <a:t>, Official Portal.</a:t>
            </a:r>
          </a:p>
          <a:p>
            <a:r>
              <a:rPr lang="en-US" sz="1800" dirty="0"/>
              <a:t>T. Ahmed and M. Kadam, “AI-Based Internship Recommendation Engine for Government Internship Schemes,” </a:t>
            </a:r>
            <a:r>
              <a:rPr lang="en-US" sz="1800" i="1" dirty="0"/>
              <a:t>ResearchGate</a:t>
            </a:r>
            <a:r>
              <a:rPr lang="en-US" sz="1800" dirty="0"/>
              <a:t>, 2024.</a:t>
            </a:r>
            <a:endParaRPr lang="en-US" sz="1800" dirty="0">
              <a:solidFill>
                <a:schemeClr val="tx1"/>
              </a:solidFill>
              <a:latin typeface="Arial" panose="020B0604020202020204" pitchFamily="34" charset="0"/>
            </a:endParaRPr>
          </a:p>
          <a:p>
            <a:r>
              <a:rPr lang="en-US" sz="1800" dirty="0"/>
              <a:t>J. Doe and A. Smith, “Title of the Paper,” </a:t>
            </a:r>
            <a:r>
              <a:rPr lang="en-US" sz="1800" i="1" dirty="0"/>
              <a:t>International Research Journal of Modern Engineering and Technology Society (IRJMETS)</a:t>
            </a:r>
            <a:r>
              <a:rPr lang="en-US" sz="1800" dirty="0"/>
              <a:t>, 2024.</a:t>
            </a:r>
          </a:p>
          <a:p>
            <a:r>
              <a:rPr lang="en-US" sz="1800" dirty="0"/>
              <a:t>F. P. Poncio, “Navigating techniques in job recommender systems on internship profile matching: a systematic review,” </a:t>
            </a:r>
            <a:r>
              <a:rPr lang="en-US" sz="1800" i="1" dirty="0"/>
              <a:t>Journal of Research in Innovative Teaching &amp; Learning</a:t>
            </a:r>
            <a:r>
              <a:rPr lang="en-US" sz="1800" dirty="0"/>
              <a:t>, vol. 17, no. 2, pp. 352–367, Aug. 2024.</a:t>
            </a:r>
          </a:p>
          <a:p>
            <a:r>
              <a:rPr lang="en-US" sz="1800" dirty="0"/>
              <a:t>AI Internship Recommendation System”, </a:t>
            </a:r>
            <a:r>
              <a:rPr lang="en-US" sz="1800" i="1" dirty="0"/>
              <a:t>International Journal of Research and Production</a:t>
            </a:r>
            <a:r>
              <a:rPr lang="en-US" sz="1800" dirty="0"/>
              <a:t>, vol. 6, no. 11, pp. 56100, 2025.</a:t>
            </a:r>
          </a:p>
          <a:p>
            <a:r>
              <a:rPr lang="en-US" sz="1800" dirty="0"/>
              <a:t>Y. Mao, S. Lin, and Y. Cheng, “A Job Recommendation Model Based on a Two-Layer Attention Mechanism,” </a:t>
            </a:r>
            <a:r>
              <a:rPr lang="en-US" sz="1800" i="1" dirty="0"/>
              <a:t>Electronics</a:t>
            </a:r>
            <a:r>
              <a:rPr lang="en-US" sz="1800" dirty="0"/>
              <a:t>, vol. 13, no. 3, p. 485, 2024.</a:t>
            </a:r>
          </a:p>
        </p:txBody>
      </p:sp>
    </p:spTree>
    <p:extLst>
      <p:ext uri="{BB962C8B-B14F-4D97-AF65-F5344CB8AC3E}">
        <p14:creationId xmlns:p14="http://schemas.microsoft.com/office/powerpoint/2010/main" val="3020588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E314-A785-EEC7-4654-AFEE7C4AA40C}"/>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id="{1E29A5EA-FDE1-24AF-13B5-F21252520142}"/>
              </a:ext>
            </a:extLst>
          </p:cNvPr>
          <p:cNvSpPr>
            <a:spLocks noGrp="1"/>
          </p:cNvSpPr>
          <p:nvPr>
            <p:ph type="body" idx="1"/>
          </p:nvPr>
        </p:nvSpPr>
        <p:spPr>
          <a:xfrm>
            <a:off x="812799" y="1143001"/>
            <a:ext cx="10209161" cy="4953000"/>
          </a:xfrm>
        </p:spPr>
        <p:txBody>
          <a:bodyPr>
            <a:normAutofit/>
          </a:bodyPr>
          <a:lstStyle/>
          <a:p>
            <a:pPr marL="76200" indent="0">
              <a:lnSpc>
                <a:spcPct val="150000"/>
              </a:lnSpc>
              <a:buNone/>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AI-Based Internship Recommendation Engine</a:t>
            </a:r>
            <a:r>
              <a:rPr lang="en-US" sz="1800" dirty="0">
                <a:latin typeface="Times New Roman" panose="02020603050405020304" pitchFamily="18" charset="0"/>
                <a:cs typeface="Times New Roman" panose="02020603050405020304" pitchFamily="18" charset="0"/>
              </a:rPr>
              <a:t> provides a fair, scalable, and data-driven solution for internship allocation under the </a:t>
            </a:r>
            <a:r>
              <a:rPr lang="en-US" sz="1800" b="1" dirty="0">
                <a:latin typeface="Times New Roman" panose="02020603050405020304" pitchFamily="18" charset="0"/>
                <a:cs typeface="Times New Roman" panose="02020603050405020304" pitchFamily="18" charset="0"/>
              </a:rPr>
              <a:t>PM Internship Scheme</a:t>
            </a:r>
            <a:r>
              <a:rPr lang="en-US" sz="1800" dirty="0">
                <a:latin typeface="Times New Roman" panose="02020603050405020304" pitchFamily="18" charset="0"/>
                <a:cs typeface="Times New Roman" panose="02020603050405020304" pitchFamily="18" charset="0"/>
              </a:rPr>
              <a:t> by leveraging AI and Machine Learning for accurate skill-based matching. It reduces manual effort, minimizes skill mismatches, and ensures equal access to opportunities for students from diverse backgrounds. The system enhances employability by aligning academic learning with industry requirements and strongly supports </a:t>
            </a:r>
            <a:r>
              <a:rPr lang="en-US" sz="1800" b="1" dirty="0">
                <a:latin typeface="Times New Roman" panose="02020603050405020304" pitchFamily="18" charset="0"/>
                <a:cs typeface="Times New Roman" panose="02020603050405020304" pitchFamily="18" charset="0"/>
              </a:rPr>
              <a:t>SDG 4 – Quality Education</a:t>
            </a:r>
            <a:r>
              <a:rPr lang="en-US" sz="1800" dirty="0">
                <a:latin typeface="Times New Roman" panose="02020603050405020304" pitchFamily="18" charset="0"/>
                <a:cs typeface="Times New Roman" panose="02020603050405020304" pitchFamily="18" charset="0"/>
              </a:rPr>
              <a:t>. Overall, the solution is transparent, adaptable, and suitable for large-scale government deployment, demonstrating the potential of AI in strengthening the education-to-employment ecosystem in India.</a:t>
            </a:r>
          </a:p>
        </p:txBody>
      </p:sp>
    </p:spTree>
    <p:extLst>
      <p:ext uri="{BB962C8B-B14F-4D97-AF65-F5344CB8AC3E}">
        <p14:creationId xmlns:p14="http://schemas.microsoft.com/office/powerpoint/2010/main" val="2850383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627</TotalTime>
  <Words>1280</Words>
  <Application>Microsoft Office PowerPoint</Application>
  <PresentationFormat>Widescreen</PresentationFormat>
  <Paragraphs>152</Paragraphs>
  <Slides>18</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Cambria</vt:lpstr>
      <vt:lpstr>Candara</vt:lpstr>
      <vt:lpstr>Times New Roman</vt:lpstr>
      <vt:lpstr>Verdana</vt:lpstr>
      <vt:lpstr>Bioinformatics</vt:lpstr>
      <vt:lpstr>Al-Based Internship Recommendation Engine for PM            Internship Scheme </vt:lpstr>
      <vt:lpstr> Analysis of Problem Statement </vt:lpstr>
      <vt:lpstr>Problem Statement Number  : SIH25034   </vt:lpstr>
      <vt:lpstr>Introduction</vt:lpstr>
      <vt:lpstr> Objectives </vt:lpstr>
      <vt:lpstr>Background and Related work for title Selection </vt:lpstr>
      <vt:lpstr> Methodology  </vt:lpstr>
      <vt:lpstr> Tools &amp; Software Used </vt:lpstr>
      <vt:lpstr>Analysis of Problem Statement</vt:lpstr>
      <vt:lpstr> Existing Methods and Drawbacks </vt:lpstr>
      <vt:lpstr>PowerPoint Presentation</vt:lpstr>
      <vt:lpstr> Git-hub Link </vt:lpstr>
      <vt:lpstr>Flow Diagram</vt:lpstr>
      <vt:lpstr> Timeline of the Project </vt:lpstr>
      <vt:lpstr>Timeline of the Project (Gantt Chart)</vt:lpstr>
      <vt:lpstr> References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Sindhu LY</cp:lastModifiedBy>
  <cp:revision>85</cp:revision>
  <dcterms:created xsi:type="dcterms:W3CDTF">2025-08-20T06:55:37Z</dcterms:created>
  <dcterms:modified xsi:type="dcterms:W3CDTF">2026-04-21T14:15:28Z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23D123F282754343B9B3B56C02B53F5C_13</vt:lpwstr>
  </property>
  <property fmtid="{D5CDD505-2E9C-101B-9397-08002B2CF9AE}" pid="3" name="KSOProductBuildVer">
    <vt:lpwstr>1033-12.2.0.21931</vt:lpwstr>
  </property>
</Properties>
</file>