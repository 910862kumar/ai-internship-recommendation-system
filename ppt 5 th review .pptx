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2" r:id="rId7"/>
    <p:sldId id="263" r:id="rId8"/>
    <p:sldId id="265" r:id="rId9"/>
    <p:sldId id="266" r:id="rId10"/>
    <p:sldId id="267" r:id="rId11"/>
    <p:sldId id="268" r:id="rId12"/>
    <p:sldId id="269" r:id="rId13"/>
    <p:sldId id="271" r:id="rId1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94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9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1900" b="0" i="0">
                <a:solidFill>
                  <a:schemeClr val="tx1"/>
                </a:solidFill>
                <a:latin typeface="Cambria"/>
                <a:cs typeface="Cambri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5340" y="886967"/>
            <a:ext cx="10668000" cy="58419"/>
          </a:xfrm>
          <a:custGeom>
            <a:avLst/>
            <a:gdLst/>
            <a:ahLst/>
            <a:cxnLst/>
            <a:rect l="l" t="t" r="r" b="b"/>
            <a:pathLst>
              <a:path w="10668000" h="58419">
                <a:moveTo>
                  <a:pt x="10668000" y="46355"/>
                </a:moveTo>
                <a:lnTo>
                  <a:pt x="0" y="46355"/>
                </a:lnTo>
                <a:lnTo>
                  <a:pt x="0" y="57912"/>
                </a:lnTo>
                <a:lnTo>
                  <a:pt x="10668000" y="57912"/>
                </a:lnTo>
                <a:lnTo>
                  <a:pt x="10668000" y="46355"/>
                </a:lnTo>
                <a:close/>
              </a:path>
              <a:path w="10668000" h="58419">
                <a:moveTo>
                  <a:pt x="10668000" y="0"/>
                </a:moveTo>
                <a:lnTo>
                  <a:pt x="0" y="0"/>
                </a:lnTo>
                <a:lnTo>
                  <a:pt x="0" y="34798"/>
                </a:lnTo>
                <a:lnTo>
                  <a:pt x="10668000" y="34798"/>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5992367"/>
            <a:ext cx="12192000" cy="865632"/>
          </a:xfrm>
          <a:prstGeom prst="rect">
            <a:avLst/>
          </a:prstGeom>
        </p:spPr>
      </p:pic>
      <p:pic>
        <p:nvPicPr>
          <p:cNvPr id="18" name="bg object 18"/>
          <p:cNvPicPr/>
          <p:nvPr/>
        </p:nvPicPr>
        <p:blipFill>
          <a:blip r:embed="rId3" cstate="print"/>
          <a:stretch>
            <a:fillRect/>
          </a:stretch>
        </p:blipFill>
        <p:spPr>
          <a:xfrm>
            <a:off x="768095" y="1082039"/>
            <a:ext cx="10713719" cy="4913376"/>
          </a:xfrm>
          <a:prstGeom prst="rect">
            <a:avLst/>
          </a:prstGeom>
        </p:spPr>
      </p:pic>
      <p:sp>
        <p:nvSpPr>
          <p:cNvPr id="2" name="Holder 2"/>
          <p:cNvSpPr>
            <a:spLocks noGrp="1"/>
          </p:cNvSpPr>
          <p:nvPr>
            <p:ph type="title"/>
          </p:nvPr>
        </p:nvSpPr>
        <p:spPr/>
        <p:txBody>
          <a:bodyPr lIns="0" tIns="0" rIns="0" bIns="0"/>
          <a:lstStyle>
            <a:lvl1pPr>
              <a:defRPr sz="280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5340" y="886967"/>
            <a:ext cx="10668000" cy="58419"/>
          </a:xfrm>
          <a:custGeom>
            <a:avLst/>
            <a:gdLst/>
            <a:ahLst/>
            <a:cxnLst/>
            <a:rect l="l" t="t" r="r" b="b"/>
            <a:pathLst>
              <a:path w="10668000" h="58419">
                <a:moveTo>
                  <a:pt x="10668000" y="46355"/>
                </a:moveTo>
                <a:lnTo>
                  <a:pt x="0" y="46355"/>
                </a:lnTo>
                <a:lnTo>
                  <a:pt x="0" y="57912"/>
                </a:lnTo>
                <a:lnTo>
                  <a:pt x="10668000" y="57912"/>
                </a:lnTo>
                <a:lnTo>
                  <a:pt x="10668000" y="46355"/>
                </a:lnTo>
                <a:close/>
              </a:path>
              <a:path w="10668000" h="58419">
                <a:moveTo>
                  <a:pt x="10668000" y="0"/>
                </a:moveTo>
                <a:lnTo>
                  <a:pt x="0" y="0"/>
                </a:lnTo>
                <a:lnTo>
                  <a:pt x="0" y="34798"/>
                </a:lnTo>
                <a:lnTo>
                  <a:pt x="10668000" y="34798"/>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2367"/>
            <a:ext cx="12192000" cy="865632"/>
          </a:xfrm>
          <a:prstGeom prst="rect">
            <a:avLst/>
          </a:prstGeom>
        </p:spPr>
      </p:pic>
      <p:sp>
        <p:nvSpPr>
          <p:cNvPr id="2" name="Holder 2"/>
          <p:cNvSpPr>
            <a:spLocks noGrp="1"/>
          </p:cNvSpPr>
          <p:nvPr>
            <p:ph type="title"/>
          </p:nvPr>
        </p:nvSpPr>
        <p:spPr>
          <a:xfrm>
            <a:off x="891641" y="66497"/>
            <a:ext cx="6004559" cy="749731"/>
          </a:xfrm>
          <a:prstGeom prst="rect">
            <a:avLst/>
          </a:prstGeom>
        </p:spPr>
        <p:txBody>
          <a:bodyPr wrap="square" lIns="0" tIns="0" rIns="0" bIns="0">
            <a:spAutoFit/>
          </a:bodyPr>
          <a:lstStyle>
            <a:lvl1pPr>
              <a:defRPr sz="2800" b="1" i="0">
                <a:solidFill>
                  <a:srgbClr val="17365D"/>
                </a:solidFill>
                <a:latin typeface="Cambria"/>
                <a:cs typeface="Cambria"/>
              </a:defRPr>
            </a:lvl1pPr>
          </a:lstStyle>
          <a:p>
            <a:endParaRPr/>
          </a:p>
        </p:txBody>
      </p:sp>
      <p:sp>
        <p:nvSpPr>
          <p:cNvPr id="3" name="Holder 3"/>
          <p:cNvSpPr>
            <a:spLocks noGrp="1"/>
          </p:cNvSpPr>
          <p:nvPr>
            <p:ph type="body" idx="1"/>
          </p:nvPr>
        </p:nvSpPr>
        <p:spPr>
          <a:xfrm>
            <a:off x="1044346" y="1637487"/>
            <a:ext cx="10367645" cy="4023360"/>
          </a:xfrm>
          <a:prstGeom prst="rect">
            <a:avLst/>
          </a:prstGeom>
        </p:spPr>
        <p:txBody>
          <a:bodyPr wrap="square" lIns="0" tIns="0" rIns="0" bIns="0">
            <a:spAutoFit/>
          </a:bodyPr>
          <a:lstStyle>
            <a:lvl1pPr>
              <a:defRPr sz="1900" b="0" i="0">
                <a:solidFill>
                  <a:schemeClr val="tx1"/>
                </a:solidFill>
                <a:latin typeface="Cambria"/>
                <a:cs typeface="Cambri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4/21/2026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52600" y="1213865"/>
            <a:ext cx="8915400" cy="1120820"/>
          </a:xfrm>
          <a:prstGeom prst="rect">
            <a:avLst/>
          </a:prstGeom>
        </p:spPr>
        <p:txBody>
          <a:bodyPr vert="horz" wrap="square" lIns="0" tIns="12700" rIns="0" bIns="0" rtlCol="0">
            <a:spAutoFit/>
          </a:bodyPr>
          <a:lstStyle/>
          <a:p>
            <a:pPr marL="12700">
              <a:lnSpc>
                <a:spcPct val="100000"/>
              </a:lnSpc>
              <a:spcBef>
                <a:spcPts val="100"/>
              </a:spcBef>
            </a:pPr>
            <a:r>
              <a:rPr lang="en-US" sz="2400" dirty="0"/>
              <a:t>Al-Based Internship Recommendation Engine for PM            Internship Scheme</a:t>
            </a:r>
            <a:br>
              <a:rPr lang="en-US" sz="2400" b="0" dirty="0">
                <a:solidFill>
                  <a:srgbClr val="000000"/>
                </a:solidFill>
                <a:latin typeface="Aptos" panose="020B0004020202020204" pitchFamily="34" charset="0"/>
              </a:rPr>
            </a:br>
            <a:endParaRPr sz="2400" dirty="0">
              <a:latin typeface="Verdana"/>
              <a:cs typeface="Verdana"/>
            </a:endParaRPr>
          </a:p>
        </p:txBody>
      </p:sp>
      <p:sp>
        <p:nvSpPr>
          <p:cNvPr id="3" name="object 3"/>
          <p:cNvSpPr txBox="1"/>
          <p:nvPr/>
        </p:nvSpPr>
        <p:spPr>
          <a:xfrm>
            <a:off x="869391" y="1867026"/>
            <a:ext cx="2645410" cy="329565"/>
          </a:xfrm>
          <a:prstGeom prst="rect">
            <a:avLst/>
          </a:prstGeom>
        </p:spPr>
        <p:txBody>
          <a:bodyPr vert="horz" wrap="square" lIns="0" tIns="11430" rIns="0" bIns="0" rtlCol="0">
            <a:spAutoFit/>
          </a:bodyPr>
          <a:lstStyle/>
          <a:p>
            <a:pPr marL="12700">
              <a:lnSpc>
                <a:spcPct val="100000"/>
              </a:lnSpc>
              <a:spcBef>
                <a:spcPts val="90"/>
              </a:spcBef>
            </a:pPr>
            <a:r>
              <a:rPr sz="2000" b="1" dirty="0">
                <a:solidFill>
                  <a:srgbClr val="17365D"/>
                </a:solidFill>
                <a:latin typeface="Cambria"/>
                <a:cs typeface="Cambria"/>
              </a:rPr>
              <a:t>Batch</a:t>
            </a:r>
            <a:r>
              <a:rPr sz="2000" b="1" spc="-30" dirty="0">
                <a:solidFill>
                  <a:srgbClr val="17365D"/>
                </a:solidFill>
                <a:latin typeface="Cambria"/>
                <a:cs typeface="Cambria"/>
              </a:rPr>
              <a:t> </a:t>
            </a:r>
            <a:r>
              <a:rPr sz="2000" b="1" dirty="0">
                <a:solidFill>
                  <a:srgbClr val="17365D"/>
                </a:solidFill>
                <a:latin typeface="Cambria"/>
                <a:cs typeface="Cambria"/>
              </a:rPr>
              <a:t>Number</a:t>
            </a:r>
            <a:r>
              <a:rPr sz="2000" b="1" spc="-20" dirty="0">
                <a:solidFill>
                  <a:srgbClr val="17365D"/>
                </a:solidFill>
                <a:latin typeface="Cambria"/>
                <a:cs typeface="Cambria"/>
              </a:rPr>
              <a:t> </a:t>
            </a:r>
            <a:r>
              <a:rPr sz="2000" b="1" dirty="0">
                <a:solidFill>
                  <a:srgbClr val="17365D"/>
                </a:solidFill>
                <a:latin typeface="Cambria"/>
                <a:cs typeface="Cambria"/>
              </a:rPr>
              <a:t>:</a:t>
            </a:r>
            <a:r>
              <a:rPr sz="2000" b="1" spc="-45" dirty="0">
                <a:solidFill>
                  <a:srgbClr val="17365D"/>
                </a:solidFill>
                <a:latin typeface="Cambria"/>
                <a:cs typeface="Cambria"/>
              </a:rPr>
              <a:t> </a:t>
            </a:r>
            <a:r>
              <a:rPr sz="2000" b="1" spc="-10" dirty="0">
                <a:solidFill>
                  <a:srgbClr val="17365D"/>
                </a:solidFill>
                <a:latin typeface="Cambria"/>
                <a:cs typeface="Cambria"/>
              </a:rPr>
              <a:t>ISE_</a:t>
            </a:r>
            <a:r>
              <a:rPr lang="en-IN" sz="2000" b="1" spc="-10" dirty="0">
                <a:solidFill>
                  <a:srgbClr val="17365D"/>
                </a:solidFill>
                <a:latin typeface="Cambria"/>
                <a:cs typeface="Cambria"/>
              </a:rPr>
              <a:t>25</a:t>
            </a:r>
            <a:endParaRPr sz="2000" dirty="0">
              <a:latin typeface="Cambria"/>
              <a:cs typeface="Cambria"/>
            </a:endParaRPr>
          </a:p>
        </p:txBody>
      </p:sp>
      <p:sp>
        <p:nvSpPr>
          <p:cNvPr id="4" name="object 4"/>
          <p:cNvSpPr txBox="1"/>
          <p:nvPr/>
        </p:nvSpPr>
        <p:spPr>
          <a:xfrm>
            <a:off x="558393" y="2448888"/>
            <a:ext cx="2491740" cy="268605"/>
          </a:xfrm>
          <a:prstGeom prst="rect">
            <a:avLst/>
          </a:prstGeom>
        </p:spPr>
        <p:txBody>
          <a:bodyPr vert="horz" wrap="square" lIns="0" tIns="0" rIns="0" bIns="0" rtlCol="0">
            <a:spAutoFit/>
          </a:bodyPr>
          <a:lstStyle/>
          <a:p>
            <a:pPr>
              <a:lnSpc>
                <a:spcPts val="2055"/>
              </a:lnSpc>
              <a:tabLst>
                <a:tab pos="2339975" algn="l"/>
              </a:tabLst>
            </a:pPr>
            <a:r>
              <a:rPr sz="1800" b="1" spc="95" dirty="0">
                <a:solidFill>
                  <a:srgbClr val="17365D"/>
                </a:solidFill>
                <a:latin typeface="Cambria"/>
                <a:cs typeface="Cambria"/>
              </a:rPr>
              <a:t>Roll</a:t>
            </a:r>
            <a:r>
              <a:rPr sz="1800" b="1" spc="229" dirty="0">
                <a:solidFill>
                  <a:srgbClr val="17365D"/>
                </a:solidFill>
                <a:latin typeface="Cambria"/>
                <a:cs typeface="Cambria"/>
              </a:rPr>
              <a:t> </a:t>
            </a:r>
            <a:r>
              <a:rPr sz="1800" b="1" spc="70" dirty="0">
                <a:solidFill>
                  <a:srgbClr val="17365D"/>
                </a:solidFill>
                <a:latin typeface="Cambria"/>
                <a:cs typeface="Cambria"/>
              </a:rPr>
              <a:t>Number</a:t>
            </a:r>
            <a:r>
              <a:rPr sz="1800" b="1" dirty="0">
                <a:solidFill>
                  <a:srgbClr val="17365D"/>
                </a:solidFill>
                <a:latin typeface="Cambria"/>
                <a:cs typeface="Cambria"/>
              </a:rPr>
              <a:t>	</a:t>
            </a:r>
            <a:r>
              <a:rPr sz="1800" b="1" spc="204" dirty="0">
                <a:solidFill>
                  <a:srgbClr val="17365D"/>
                </a:solidFill>
                <a:latin typeface="Cambria"/>
                <a:cs typeface="Cambria"/>
              </a:rPr>
              <a:t>S</a:t>
            </a:r>
            <a:endParaRPr sz="1800">
              <a:latin typeface="Cambria"/>
              <a:cs typeface="Cambria"/>
            </a:endParaRPr>
          </a:p>
        </p:txBody>
      </p:sp>
      <p:sp>
        <p:nvSpPr>
          <p:cNvPr id="5" name="object 5"/>
          <p:cNvSpPr txBox="1"/>
          <p:nvPr/>
        </p:nvSpPr>
        <p:spPr>
          <a:xfrm>
            <a:off x="3050895" y="2448888"/>
            <a:ext cx="1534160" cy="268605"/>
          </a:xfrm>
          <a:prstGeom prst="rect">
            <a:avLst/>
          </a:prstGeom>
        </p:spPr>
        <p:txBody>
          <a:bodyPr vert="horz" wrap="square" lIns="0" tIns="0" rIns="0" bIns="0" rtlCol="0">
            <a:spAutoFit/>
          </a:bodyPr>
          <a:lstStyle/>
          <a:p>
            <a:pPr>
              <a:lnSpc>
                <a:spcPts val="2055"/>
              </a:lnSpc>
            </a:pPr>
            <a:r>
              <a:rPr sz="1800" b="1" spc="125" dirty="0">
                <a:solidFill>
                  <a:srgbClr val="17365D"/>
                </a:solidFill>
                <a:latin typeface="Cambria"/>
                <a:cs typeface="Cambria"/>
              </a:rPr>
              <a:t>tudent</a:t>
            </a:r>
            <a:r>
              <a:rPr sz="1800" b="1" spc="165" dirty="0">
                <a:solidFill>
                  <a:srgbClr val="17365D"/>
                </a:solidFill>
                <a:latin typeface="Cambria"/>
                <a:cs typeface="Cambria"/>
              </a:rPr>
              <a:t> </a:t>
            </a:r>
            <a:r>
              <a:rPr sz="1800" b="1" spc="90" dirty="0">
                <a:solidFill>
                  <a:srgbClr val="17365D"/>
                </a:solidFill>
                <a:latin typeface="Cambria"/>
                <a:cs typeface="Cambria"/>
              </a:rPr>
              <a:t>Name</a:t>
            </a:r>
            <a:endParaRPr sz="1800">
              <a:latin typeface="Cambria"/>
              <a:cs typeface="Cambria"/>
            </a:endParaRPr>
          </a:p>
        </p:txBody>
      </p:sp>
      <p:sp>
        <p:nvSpPr>
          <p:cNvPr id="6" name="object 6"/>
          <p:cNvSpPr txBox="1"/>
          <p:nvPr/>
        </p:nvSpPr>
        <p:spPr>
          <a:xfrm>
            <a:off x="460857" y="2814361"/>
            <a:ext cx="2613660" cy="543560"/>
          </a:xfrm>
          <a:prstGeom prst="rect">
            <a:avLst/>
          </a:prstGeom>
        </p:spPr>
        <p:txBody>
          <a:bodyPr vert="horz" wrap="square" lIns="0" tIns="0" rIns="0" bIns="0" rtlCol="0">
            <a:spAutoFit/>
          </a:bodyPr>
          <a:lstStyle/>
          <a:p>
            <a:pPr>
              <a:lnSpc>
                <a:spcPts val="2060"/>
              </a:lnSpc>
              <a:tabLst>
                <a:tab pos="2470785" algn="l"/>
              </a:tabLst>
            </a:pPr>
            <a:r>
              <a:rPr sz="1800" spc="120" dirty="0">
                <a:latin typeface="Cambria"/>
                <a:cs typeface="Cambria"/>
              </a:rPr>
              <a:t>20221ISE0156</a:t>
            </a:r>
            <a:r>
              <a:rPr sz="1800" dirty="0">
                <a:latin typeface="Cambria"/>
                <a:cs typeface="Cambria"/>
              </a:rPr>
              <a:t>	T</a:t>
            </a:r>
            <a:endParaRPr sz="1800">
              <a:latin typeface="Cambria"/>
              <a:cs typeface="Cambria"/>
            </a:endParaRPr>
          </a:p>
          <a:p>
            <a:pPr>
              <a:lnSpc>
                <a:spcPct val="100000"/>
              </a:lnSpc>
            </a:pPr>
            <a:r>
              <a:rPr sz="1800" spc="120" dirty="0">
                <a:latin typeface="Cambria"/>
                <a:cs typeface="Cambria"/>
              </a:rPr>
              <a:t>20221ISE0157</a:t>
            </a:r>
            <a:endParaRPr sz="1800">
              <a:latin typeface="Cambria"/>
              <a:cs typeface="Cambria"/>
            </a:endParaRPr>
          </a:p>
        </p:txBody>
      </p:sp>
      <p:sp>
        <p:nvSpPr>
          <p:cNvPr id="7" name="object 7"/>
          <p:cNvSpPr txBox="1"/>
          <p:nvPr/>
        </p:nvSpPr>
        <p:spPr>
          <a:xfrm>
            <a:off x="3072494" y="2814361"/>
            <a:ext cx="1483995" cy="543560"/>
          </a:xfrm>
          <a:prstGeom prst="rect">
            <a:avLst/>
          </a:prstGeom>
        </p:spPr>
        <p:txBody>
          <a:bodyPr vert="horz" wrap="square" lIns="0" tIns="0" rIns="0" bIns="0" rtlCol="0">
            <a:spAutoFit/>
          </a:bodyPr>
          <a:lstStyle/>
          <a:p>
            <a:pPr>
              <a:lnSpc>
                <a:spcPts val="2060"/>
              </a:lnSpc>
            </a:pPr>
            <a:r>
              <a:rPr sz="1800" spc="140" dirty="0">
                <a:latin typeface="Cambria"/>
                <a:cs typeface="Cambria"/>
              </a:rPr>
              <a:t>hanushree</a:t>
            </a:r>
            <a:r>
              <a:rPr sz="1800" spc="170" dirty="0">
                <a:latin typeface="Cambria"/>
                <a:cs typeface="Cambria"/>
              </a:rPr>
              <a:t> </a:t>
            </a:r>
            <a:r>
              <a:rPr sz="1800" spc="130" dirty="0">
                <a:latin typeface="Cambria"/>
                <a:cs typeface="Cambria"/>
              </a:rPr>
              <a:t>M</a:t>
            </a:r>
            <a:endParaRPr sz="1800">
              <a:latin typeface="Cambria"/>
              <a:cs typeface="Cambria"/>
            </a:endParaRPr>
          </a:p>
          <a:p>
            <a:pPr marL="161290">
              <a:lnSpc>
                <a:spcPct val="100000"/>
              </a:lnSpc>
            </a:pPr>
            <a:r>
              <a:rPr sz="1800" spc="125" dirty="0">
                <a:latin typeface="Cambria"/>
                <a:cs typeface="Cambria"/>
              </a:rPr>
              <a:t>Veda</a:t>
            </a:r>
            <a:r>
              <a:rPr sz="1800" spc="170" dirty="0">
                <a:latin typeface="Cambria"/>
                <a:cs typeface="Cambria"/>
              </a:rPr>
              <a:t> </a:t>
            </a:r>
            <a:r>
              <a:rPr sz="1800" spc="290" dirty="0">
                <a:latin typeface="Cambria"/>
                <a:cs typeface="Cambria"/>
              </a:rPr>
              <a:t>S</a:t>
            </a:r>
            <a:r>
              <a:rPr sz="1800" spc="175" dirty="0">
                <a:latin typeface="Cambria"/>
                <a:cs typeface="Cambria"/>
              </a:rPr>
              <a:t> </a:t>
            </a:r>
            <a:r>
              <a:rPr sz="1800" spc="180" dirty="0">
                <a:latin typeface="Cambria"/>
                <a:cs typeface="Cambria"/>
              </a:rPr>
              <a:t>B</a:t>
            </a:r>
            <a:endParaRPr sz="1800">
              <a:latin typeface="Cambria"/>
              <a:cs typeface="Cambria"/>
            </a:endParaRPr>
          </a:p>
        </p:txBody>
      </p:sp>
      <p:sp>
        <p:nvSpPr>
          <p:cNvPr id="8" name="object 8"/>
          <p:cNvSpPr txBox="1"/>
          <p:nvPr/>
        </p:nvSpPr>
        <p:spPr>
          <a:xfrm>
            <a:off x="460857" y="3454822"/>
            <a:ext cx="2567940" cy="269240"/>
          </a:xfrm>
          <a:prstGeom prst="rect">
            <a:avLst/>
          </a:prstGeom>
        </p:spPr>
        <p:txBody>
          <a:bodyPr vert="horz" wrap="square" lIns="0" tIns="0" rIns="0" bIns="0" rtlCol="0">
            <a:spAutoFit/>
          </a:bodyPr>
          <a:lstStyle/>
          <a:p>
            <a:pPr>
              <a:lnSpc>
                <a:spcPts val="2060"/>
              </a:lnSpc>
              <a:tabLst>
                <a:tab pos="2282190" algn="l"/>
              </a:tabLst>
            </a:pPr>
            <a:r>
              <a:rPr sz="1800" spc="120" dirty="0">
                <a:latin typeface="Cambria"/>
                <a:cs typeface="Cambria"/>
              </a:rPr>
              <a:t>20221ISE0039</a:t>
            </a:r>
            <a:r>
              <a:rPr sz="1800" dirty="0">
                <a:latin typeface="Cambria"/>
                <a:cs typeface="Cambria"/>
              </a:rPr>
              <a:t>	</a:t>
            </a:r>
            <a:r>
              <a:rPr sz="1800" spc="210" dirty="0">
                <a:latin typeface="Cambria"/>
                <a:cs typeface="Cambria"/>
              </a:rPr>
              <a:t>Sa</a:t>
            </a:r>
            <a:endParaRPr sz="1800">
              <a:latin typeface="Cambria"/>
              <a:cs typeface="Cambria"/>
            </a:endParaRPr>
          </a:p>
        </p:txBody>
      </p:sp>
      <p:sp>
        <p:nvSpPr>
          <p:cNvPr id="9" name="object 9"/>
          <p:cNvSpPr txBox="1"/>
          <p:nvPr/>
        </p:nvSpPr>
        <p:spPr>
          <a:xfrm>
            <a:off x="3029330" y="3454822"/>
            <a:ext cx="1714500" cy="269240"/>
          </a:xfrm>
          <a:prstGeom prst="rect">
            <a:avLst/>
          </a:prstGeom>
        </p:spPr>
        <p:txBody>
          <a:bodyPr vert="horz" wrap="square" lIns="0" tIns="0" rIns="0" bIns="0" rtlCol="0">
            <a:spAutoFit/>
          </a:bodyPr>
          <a:lstStyle/>
          <a:p>
            <a:pPr>
              <a:lnSpc>
                <a:spcPts val="2060"/>
              </a:lnSpc>
            </a:pPr>
            <a:r>
              <a:rPr sz="1800" spc="110" dirty="0">
                <a:latin typeface="Cambria"/>
                <a:cs typeface="Cambria"/>
              </a:rPr>
              <a:t>ke</a:t>
            </a:r>
            <a:r>
              <a:rPr sz="1800" spc="165" dirty="0">
                <a:latin typeface="Cambria"/>
                <a:cs typeface="Cambria"/>
              </a:rPr>
              <a:t> </a:t>
            </a:r>
            <a:r>
              <a:rPr sz="1800" spc="110" dirty="0">
                <a:latin typeface="Cambria"/>
                <a:cs typeface="Cambria"/>
              </a:rPr>
              <a:t>Sree</a:t>
            </a:r>
            <a:r>
              <a:rPr sz="1800" spc="160" dirty="0">
                <a:latin typeface="Cambria"/>
                <a:cs typeface="Cambria"/>
              </a:rPr>
              <a:t> </a:t>
            </a:r>
            <a:r>
              <a:rPr sz="1800" spc="200" dirty="0">
                <a:latin typeface="Cambria"/>
                <a:cs typeface="Cambria"/>
              </a:rPr>
              <a:t>Joshna</a:t>
            </a:r>
            <a:endParaRPr sz="1800">
              <a:latin typeface="Cambria"/>
              <a:cs typeface="Cambria"/>
            </a:endParaRPr>
          </a:p>
        </p:txBody>
      </p:sp>
      <p:sp>
        <p:nvSpPr>
          <p:cNvPr id="10" name="object 10"/>
          <p:cNvSpPr txBox="1"/>
          <p:nvPr/>
        </p:nvSpPr>
        <p:spPr>
          <a:xfrm>
            <a:off x="78739" y="2541524"/>
            <a:ext cx="11751310" cy="3145733"/>
          </a:xfrm>
          <a:prstGeom prst="rect">
            <a:avLst/>
          </a:prstGeom>
        </p:spPr>
        <p:txBody>
          <a:bodyPr vert="horz" wrap="square" lIns="0" tIns="11430" rIns="0" bIns="0" rtlCol="0">
            <a:spAutoFit/>
          </a:bodyPr>
          <a:lstStyle/>
          <a:p>
            <a:pPr marL="8076565" marR="1104265" indent="-393700">
              <a:lnSpc>
                <a:spcPct val="100000"/>
              </a:lnSpc>
              <a:spcBef>
                <a:spcPts val="90"/>
              </a:spcBef>
            </a:pPr>
            <a:r>
              <a:rPr sz="2000" b="1" dirty="0">
                <a:solidFill>
                  <a:srgbClr val="17365D"/>
                </a:solidFill>
                <a:latin typeface="Cambria"/>
                <a:cs typeface="Cambria"/>
              </a:rPr>
              <a:t>Under</a:t>
            </a:r>
            <a:r>
              <a:rPr sz="2000" b="1" spc="-50" dirty="0">
                <a:solidFill>
                  <a:srgbClr val="17365D"/>
                </a:solidFill>
                <a:latin typeface="Cambria"/>
                <a:cs typeface="Cambria"/>
              </a:rPr>
              <a:t> </a:t>
            </a:r>
            <a:r>
              <a:rPr sz="2000" b="1" dirty="0">
                <a:solidFill>
                  <a:srgbClr val="17365D"/>
                </a:solidFill>
                <a:latin typeface="Cambria"/>
                <a:cs typeface="Cambria"/>
              </a:rPr>
              <a:t>the</a:t>
            </a:r>
            <a:r>
              <a:rPr sz="2000" b="1" spc="-80" dirty="0">
                <a:solidFill>
                  <a:srgbClr val="17365D"/>
                </a:solidFill>
                <a:latin typeface="Cambria"/>
                <a:cs typeface="Cambria"/>
              </a:rPr>
              <a:t> </a:t>
            </a:r>
            <a:r>
              <a:rPr sz="2000" b="1" dirty="0">
                <a:solidFill>
                  <a:srgbClr val="17365D"/>
                </a:solidFill>
                <a:latin typeface="Cambria"/>
                <a:cs typeface="Cambria"/>
              </a:rPr>
              <a:t>Supervision</a:t>
            </a:r>
            <a:r>
              <a:rPr sz="2000" b="1" spc="-50" dirty="0">
                <a:solidFill>
                  <a:srgbClr val="17365D"/>
                </a:solidFill>
                <a:latin typeface="Cambria"/>
                <a:cs typeface="Cambria"/>
              </a:rPr>
              <a:t> </a:t>
            </a:r>
            <a:r>
              <a:rPr sz="2000" b="1" spc="-25" dirty="0">
                <a:solidFill>
                  <a:srgbClr val="17365D"/>
                </a:solidFill>
                <a:latin typeface="Cambria"/>
                <a:cs typeface="Cambria"/>
              </a:rPr>
              <a:t>of, </a:t>
            </a:r>
            <a:endParaRPr lang="en-IN" sz="2000" b="1" spc="-25" dirty="0">
              <a:solidFill>
                <a:srgbClr val="17365D"/>
              </a:solidFill>
              <a:latin typeface="Cambria"/>
              <a:cs typeface="Cambria"/>
            </a:endParaRPr>
          </a:p>
          <a:p>
            <a:pPr marL="8076565" marR="1104265" indent="-393700" algn="ctr">
              <a:spcBef>
                <a:spcPts val="90"/>
              </a:spcBef>
            </a:pPr>
            <a:r>
              <a:rPr lang="en-IN" sz="2000" dirty="0"/>
              <a:t>Dr. Prajeesh C B</a:t>
            </a:r>
            <a:endParaRPr lang="en-IN" sz="2000" dirty="0">
              <a:latin typeface="Cambria" panose="02040503050406030204" pitchFamily="18" charset="0"/>
              <a:ea typeface="Cambria" panose="02040503050406030204" pitchFamily="18" charset="0"/>
            </a:endParaRPr>
          </a:p>
          <a:p>
            <a:pPr marL="8076565" marR="1104265" indent="-393700">
              <a:lnSpc>
                <a:spcPct val="100000"/>
              </a:lnSpc>
              <a:spcBef>
                <a:spcPts val="90"/>
              </a:spcBef>
            </a:pPr>
            <a:r>
              <a:rPr lang="en-IN" sz="2000" b="1" dirty="0">
                <a:solidFill>
                  <a:srgbClr val="17365D"/>
                </a:solidFill>
                <a:latin typeface="Cambria"/>
                <a:cs typeface="Cambria"/>
              </a:rPr>
              <a:t>    </a:t>
            </a:r>
            <a:r>
              <a:rPr sz="2000" b="1" dirty="0">
                <a:solidFill>
                  <a:srgbClr val="17365D"/>
                </a:solidFill>
                <a:latin typeface="Cambria"/>
                <a:cs typeface="Cambria"/>
              </a:rPr>
              <a:t>Associate</a:t>
            </a:r>
            <a:r>
              <a:rPr sz="2000" b="1" spc="-40" dirty="0">
                <a:solidFill>
                  <a:srgbClr val="17365D"/>
                </a:solidFill>
                <a:latin typeface="Cambria"/>
                <a:cs typeface="Cambria"/>
              </a:rPr>
              <a:t> </a:t>
            </a:r>
            <a:r>
              <a:rPr sz="2000" b="1" spc="-10" dirty="0">
                <a:solidFill>
                  <a:srgbClr val="17365D"/>
                </a:solidFill>
                <a:latin typeface="Cambria"/>
                <a:cs typeface="Cambria"/>
              </a:rPr>
              <a:t>Professor</a:t>
            </a:r>
            <a:endParaRPr sz="2000" dirty="0">
              <a:latin typeface="Cambria"/>
              <a:cs typeface="Cambria"/>
            </a:endParaRPr>
          </a:p>
          <a:p>
            <a:pPr marL="7878445" marR="5080" indent="-1299210">
              <a:lnSpc>
                <a:spcPts val="2710"/>
              </a:lnSpc>
              <a:spcBef>
                <a:spcPts val="120"/>
              </a:spcBef>
            </a:pPr>
            <a:r>
              <a:rPr sz="2000" b="1" dirty="0">
                <a:solidFill>
                  <a:srgbClr val="17365D"/>
                </a:solidFill>
                <a:latin typeface="Cambria"/>
                <a:cs typeface="Cambria"/>
              </a:rPr>
              <a:t>School</a:t>
            </a:r>
            <a:r>
              <a:rPr sz="2000" b="1" spc="-65" dirty="0">
                <a:solidFill>
                  <a:srgbClr val="17365D"/>
                </a:solidFill>
                <a:latin typeface="Cambria"/>
                <a:cs typeface="Cambria"/>
              </a:rPr>
              <a:t> </a:t>
            </a:r>
            <a:r>
              <a:rPr sz="2000" b="1" dirty="0">
                <a:solidFill>
                  <a:srgbClr val="17365D"/>
                </a:solidFill>
                <a:latin typeface="Cambria"/>
                <a:cs typeface="Cambria"/>
              </a:rPr>
              <a:t>of</a:t>
            </a:r>
            <a:r>
              <a:rPr sz="2000" b="1" spc="-55" dirty="0">
                <a:solidFill>
                  <a:srgbClr val="17365D"/>
                </a:solidFill>
                <a:latin typeface="Cambria"/>
                <a:cs typeface="Cambria"/>
              </a:rPr>
              <a:t> </a:t>
            </a:r>
            <a:r>
              <a:rPr sz="2000" b="1" dirty="0">
                <a:solidFill>
                  <a:srgbClr val="17365D"/>
                </a:solidFill>
                <a:latin typeface="Cambria"/>
                <a:cs typeface="Cambria"/>
              </a:rPr>
              <a:t>Computer</a:t>
            </a:r>
            <a:r>
              <a:rPr sz="2000" b="1" spc="-55" dirty="0">
                <a:solidFill>
                  <a:srgbClr val="17365D"/>
                </a:solidFill>
                <a:latin typeface="Cambria"/>
                <a:cs typeface="Cambria"/>
              </a:rPr>
              <a:t> </a:t>
            </a:r>
            <a:r>
              <a:rPr sz="2000" b="1" dirty="0">
                <a:solidFill>
                  <a:srgbClr val="17365D"/>
                </a:solidFill>
                <a:latin typeface="Cambria"/>
                <a:cs typeface="Cambria"/>
              </a:rPr>
              <a:t>Science</a:t>
            </a:r>
            <a:r>
              <a:rPr sz="2000" b="1" spc="-50" dirty="0">
                <a:solidFill>
                  <a:srgbClr val="17365D"/>
                </a:solidFill>
                <a:latin typeface="Cambria"/>
                <a:cs typeface="Cambria"/>
              </a:rPr>
              <a:t> </a:t>
            </a:r>
            <a:r>
              <a:rPr sz="2000" b="1" dirty="0">
                <a:solidFill>
                  <a:srgbClr val="17365D"/>
                </a:solidFill>
                <a:latin typeface="Cambria"/>
                <a:cs typeface="Cambria"/>
              </a:rPr>
              <a:t>and</a:t>
            </a:r>
            <a:r>
              <a:rPr sz="2000" b="1" spc="-25" dirty="0">
                <a:solidFill>
                  <a:srgbClr val="17365D"/>
                </a:solidFill>
                <a:latin typeface="Cambria"/>
                <a:cs typeface="Cambria"/>
              </a:rPr>
              <a:t> </a:t>
            </a:r>
            <a:r>
              <a:rPr sz="2000" b="1" spc="-10" dirty="0">
                <a:solidFill>
                  <a:srgbClr val="17365D"/>
                </a:solidFill>
                <a:latin typeface="Cambria"/>
                <a:cs typeface="Cambria"/>
              </a:rPr>
              <a:t>Engineering </a:t>
            </a:r>
            <a:r>
              <a:rPr sz="2000" b="1" dirty="0">
                <a:solidFill>
                  <a:srgbClr val="17365D"/>
                </a:solidFill>
                <a:latin typeface="Cambria"/>
                <a:cs typeface="Cambria"/>
              </a:rPr>
              <a:t>Presidency</a:t>
            </a:r>
            <a:r>
              <a:rPr sz="2000" b="1" spc="-95" dirty="0">
                <a:solidFill>
                  <a:srgbClr val="17365D"/>
                </a:solidFill>
                <a:latin typeface="Cambria"/>
                <a:cs typeface="Cambria"/>
              </a:rPr>
              <a:t> </a:t>
            </a:r>
            <a:r>
              <a:rPr sz="2000" b="1" spc="-10" dirty="0">
                <a:solidFill>
                  <a:srgbClr val="17365D"/>
                </a:solidFill>
                <a:latin typeface="Cambria"/>
                <a:cs typeface="Cambria"/>
              </a:rPr>
              <a:t>University</a:t>
            </a:r>
            <a:endParaRPr sz="2000" dirty="0">
              <a:latin typeface="Cambria"/>
              <a:cs typeface="Cambria"/>
            </a:endParaRPr>
          </a:p>
          <a:p>
            <a:pPr>
              <a:lnSpc>
                <a:spcPct val="100000"/>
              </a:lnSpc>
              <a:spcBef>
                <a:spcPts val="525"/>
              </a:spcBef>
            </a:pPr>
            <a:endParaRPr sz="2000" dirty="0">
              <a:latin typeface="Cambria"/>
              <a:cs typeface="Cambria"/>
            </a:endParaRPr>
          </a:p>
          <a:p>
            <a:pPr marL="12700">
              <a:lnSpc>
                <a:spcPct val="100000"/>
              </a:lnSpc>
            </a:pPr>
            <a:r>
              <a:rPr sz="1800" b="1" dirty="0">
                <a:solidFill>
                  <a:srgbClr val="4F81BC"/>
                </a:solidFill>
                <a:latin typeface="Cambria"/>
                <a:cs typeface="Cambria"/>
              </a:rPr>
              <a:t>Name</a:t>
            </a:r>
            <a:r>
              <a:rPr sz="1800" b="1" spc="-25"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 Program:</a:t>
            </a:r>
            <a:r>
              <a:rPr sz="1800" b="1" spc="-60" dirty="0">
                <a:solidFill>
                  <a:srgbClr val="4F81BC"/>
                </a:solidFill>
                <a:latin typeface="Cambria"/>
                <a:cs typeface="Cambria"/>
              </a:rPr>
              <a:t> </a:t>
            </a:r>
            <a:r>
              <a:rPr lang="en-US" sz="1800" b="1" dirty="0"/>
              <a:t>Information Science &amp; Engineering</a:t>
            </a:r>
            <a:endParaRPr sz="1800" dirty="0">
              <a:latin typeface="Cambria"/>
              <a:cs typeface="Cambria"/>
            </a:endParaRPr>
          </a:p>
          <a:p>
            <a:pPr marL="12700" algn="just">
              <a:spcBef>
                <a:spcPts val="5"/>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5" dirty="0">
                <a:solidFill>
                  <a:srgbClr val="4F81BC"/>
                </a:solidFill>
                <a:latin typeface="Cambria"/>
                <a:cs typeface="Cambria"/>
              </a:rPr>
              <a:t> </a:t>
            </a:r>
            <a:r>
              <a:rPr sz="1800" b="1" dirty="0">
                <a:solidFill>
                  <a:srgbClr val="4F81BC"/>
                </a:solidFill>
                <a:latin typeface="Cambria"/>
                <a:cs typeface="Cambria"/>
              </a:rPr>
              <a:t>HoD:</a:t>
            </a:r>
            <a:r>
              <a:rPr sz="1800" b="1" spc="-20" dirty="0">
                <a:solidFill>
                  <a:srgbClr val="4F81BC"/>
                </a:solidFill>
                <a:latin typeface="Cambria"/>
                <a:cs typeface="Cambria"/>
              </a:rPr>
              <a:t> </a:t>
            </a:r>
            <a:r>
              <a:rPr lang="en-US" sz="1800" b="1" dirty="0"/>
              <a:t>Dr. Gopal Krishna</a:t>
            </a:r>
            <a:r>
              <a:rPr lang="en-US" dirty="0"/>
              <a:t>​</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50" dirty="0">
                <a:solidFill>
                  <a:srgbClr val="4F81BC"/>
                </a:solidFill>
                <a:latin typeface="Cambria"/>
                <a:cs typeface="Cambria"/>
              </a:rPr>
              <a:t> </a:t>
            </a:r>
            <a:r>
              <a:rPr sz="1800" b="1" dirty="0">
                <a:solidFill>
                  <a:srgbClr val="4F81BC"/>
                </a:solidFill>
                <a:latin typeface="Cambria"/>
                <a:cs typeface="Cambria"/>
              </a:rPr>
              <a:t>of</a:t>
            </a:r>
            <a:r>
              <a:rPr sz="1800" b="1" spc="-45"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95" dirty="0">
                <a:solidFill>
                  <a:srgbClr val="4F81BC"/>
                </a:solidFill>
                <a:latin typeface="Cambria"/>
                <a:cs typeface="Cambria"/>
              </a:rPr>
              <a:t> </a:t>
            </a:r>
            <a:r>
              <a:rPr sz="1800" b="1" dirty="0">
                <a:solidFill>
                  <a:srgbClr val="4F81BC"/>
                </a:solidFill>
                <a:latin typeface="Cambria"/>
                <a:cs typeface="Cambria"/>
              </a:rPr>
              <a:t>Project</a:t>
            </a:r>
            <a:r>
              <a:rPr sz="1800" b="1" spc="-60" dirty="0">
                <a:solidFill>
                  <a:srgbClr val="4F81BC"/>
                </a:solidFill>
                <a:latin typeface="Cambria"/>
                <a:cs typeface="Cambria"/>
              </a:rPr>
              <a:t> </a:t>
            </a:r>
            <a:r>
              <a:rPr sz="1800" b="1" dirty="0">
                <a:solidFill>
                  <a:srgbClr val="4F81BC"/>
                </a:solidFill>
                <a:latin typeface="Cambria"/>
                <a:cs typeface="Cambria"/>
              </a:rPr>
              <a:t>Coordinator:</a:t>
            </a:r>
            <a:r>
              <a:rPr sz="1800" b="1" spc="-30" dirty="0">
                <a:solidFill>
                  <a:srgbClr val="4F81BC"/>
                </a:solidFill>
                <a:latin typeface="Cambria"/>
                <a:cs typeface="Cambria"/>
              </a:rPr>
              <a:t> </a:t>
            </a:r>
            <a:r>
              <a:rPr sz="1800" b="1" dirty="0">
                <a:latin typeface="Cambria"/>
                <a:cs typeface="Cambria"/>
              </a:rPr>
              <a:t>Ms.Suma</a:t>
            </a:r>
            <a:r>
              <a:rPr sz="1800" b="1" spc="-15" dirty="0">
                <a:latin typeface="Cambria"/>
                <a:cs typeface="Cambria"/>
              </a:rPr>
              <a:t> </a:t>
            </a:r>
            <a:r>
              <a:rPr sz="1800" b="1" dirty="0">
                <a:latin typeface="Cambria"/>
                <a:cs typeface="Cambria"/>
              </a:rPr>
              <a:t>N</a:t>
            </a:r>
            <a:r>
              <a:rPr sz="1800" b="1" spc="-30" dirty="0">
                <a:latin typeface="Cambria"/>
                <a:cs typeface="Cambria"/>
              </a:rPr>
              <a:t> </a:t>
            </a:r>
            <a:r>
              <a:rPr sz="1800" b="1" spc="-50" dirty="0">
                <a:latin typeface="Cambria"/>
                <a:cs typeface="Cambria"/>
              </a:rPr>
              <a:t>G</a:t>
            </a:r>
            <a:endParaRPr sz="1800" dirty="0">
              <a:latin typeface="Cambria"/>
              <a:cs typeface="Cambria"/>
            </a:endParaRPr>
          </a:p>
          <a:p>
            <a:pPr marL="12700">
              <a:lnSpc>
                <a:spcPct val="100000"/>
              </a:lnSpc>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25" dirty="0">
                <a:solidFill>
                  <a:srgbClr val="4F81BC"/>
                </a:solidFill>
                <a:latin typeface="Cambria"/>
                <a:cs typeface="Cambria"/>
              </a:rPr>
              <a:t> </a:t>
            </a:r>
            <a:r>
              <a:rPr sz="1800" b="1" dirty="0">
                <a:solidFill>
                  <a:srgbClr val="4F81BC"/>
                </a:solidFill>
                <a:latin typeface="Cambria"/>
                <a:cs typeface="Cambria"/>
              </a:rPr>
              <a:t>the</a:t>
            </a:r>
            <a:r>
              <a:rPr sz="1800" b="1" spc="-5" dirty="0">
                <a:solidFill>
                  <a:srgbClr val="4F81BC"/>
                </a:solidFill>
                <a:latin typeface="Cambria"/>
                <a:cs typeface="Cambria"/>
              </a:rPr>
              <a:t> </a:t>
            </a:r>
            <a:r>
              <a:rPr sz="1800" b="1" dirty="0">
                <a:solidFill>
                  <a:srgbClr val="4F81BC"/>
                </a:solidFill>
                <a:latin typeface="Cambria"/>
                <a:cs typeface="Cambria"/>
              </a:rPr>
              <a:t>School</a:t>
            </a:r>
            <a:r>
              <a:rPr sz="1800" b="1" spc="-40" dirty="0">
                <a:solidFill>
                  <a:srgbClr val="4F81BC"/>
                </a:solidFill>
                <a:latin typeface="Cambria"/>
                <a:cs typeface="Cambria"/>
              </a:rPr>
              <a:t> </a:t>
            </a:r>
            <a:r>
              <a:rPr sz="1800" b="1" dirty="0">
                <a:solidFill>
                  <a:srgbClr val="4F81BC"/>
                </a:solidFill>
                <a:latin typeface="Cambria"/>
                <a:cs typeface="Cambria"/>
              </a:rPr>
              <a:t>Project</a:t>
            </a:r>
            <a:r>
              <a:rPr sz="1800" b="1" spc="-50" dirty="0">
                <a:solidFill>
                  <a:srgbClr val="4F81BC"/>
                </a:solidFill>
                <a:latin typeface="Cambria"/>
                <a:cs typeface="Cambria"/>
              </a:rPr>
              <a:t> </a:t>
            </a:r>
            <a:r>
              <a:rPr sz="1800" b="1" dirty="0">
                <a:solidFill>
                  <a:srgbClr val="4F81BC"/>
                </a:solidFill>
                <a:latin typeface="Cambria"/>
                <a:cs typeface="Cambria"/>
              </a:rPr>
              <a:t>Coordinators: </a:t>
            </a:r>
            <a:r>
              <a:rPr sz="1800" b="1" dirty="0">
                <a:latin typeface="Cambria"/>
                <a:cs typeface="Cambria"/>
              </a:rPr>
              <a:t>Dr.</a:t>
            </a:r>
            <a:r>
              <a:rPr sz="1800" b="1" spc="-60" dirty="0">
                <a:latin typeface="Cambria"/>
                <a:cs typeface="Cambria"/>
              </a:rPr>
              <a:t> </a:t>
            </a:r>
            <a:r>
              <a:rPr sz="1800" b="1" dirty="0">
                <a:latin typeface="Cambria"/>
                <a:cs typeface="Cambria"/>
              </a:rPr>
              <a:t>Sampath</a:t>
            </a:r>
            <a:r>
              <a:rPr sz="1800" b="1" spc="15" dirty="0">
                <a:latin typeface="Cambria"/>
                <a:cs typeface="Cambria"/>
              </a:rPr>
              <a:t> </a:t>
            </a:r>
            <a:r>
              <a:rPr sz="1800" b="1" dirty="0">
                <a:latin typeface="Cambria"/>
                <a:cs typeface="Cambria"/>
              </a:rPr>
              <a:t>A</a:t>
            </a:r>
            <a:r>
              <a:rPr sz="1800" b="1" spc="-30" dirty="0">
                <a:latin typeface="Cambria"/>
                <a:cs typeface="Cambria"/>
              </a:rPr>
              <a:t> </a:t>
            </a:r>
            <a:r>
              <a:rPr sz="1800" b="1" dirty="0">
                <a:latin typeface="Cambria"/>
                <a:cs typeface="Cambria"/>
              </a:rPr>
              <a:t>K</a:t>
            </a:r>
            <a:r>
              <a:rPr sz="1800" b="1" spc="-20" dirty="0">
                <a:latin typeface="Cambria"/>
                <a:cs typeface="Cambria"/>
              </a:rPr>
              <a:t> </a:t>
            </a:r>
            <a:r>
              <a:rPr sz="1800" b="1" dirty="0">
                <a:latin typeface="Cambria"/>
                <a:cs typeface="Cambria"/>
              </a:rPr>
              <a:t>,</a:t>
            </a:r>
            <a:r>
              <a:rPr sz="1800" b="1" spc="-25" dirty="0">
                <a:latin typeface="Cambria"/>
                <a:cs typeface="Cambria"/>
              </a:rPr>
              <a:t> </a:t>
            </a:r>
            <a:r>
              <a:rPr sz="1800" b="1" dirty="0">
                <a:latin typeface="Cambria"/>
                <a:cs typeface="Cambria"/>
              </a:rPr>
              <a:t>Dr.</a:t>
            </a:r>
            <a:r>
              <a:rPr sz="1800" b="1" spc="-35" dirty="0">
                <a:latin typeface="Cambria"/>
                <a:cs typeface="Cambria"/>
              </a:rPr>
              <a:t> </a:t>
            </a:r>
            <a:r>
              <a:rPr sz="1800" b="1" dirty="0">
                <a:latin typeface="Cambria"/>
                <a:cs typeface="Cambria"/>
              </a:rPr>
              <a:t>Geetha</a:t>
            </a:r>
            <a:r>
              <a:rPr sz="1800" b="1" spc="-20" dirty="0">
                <a:latin typeface="Cambria"/>
                <a:cs typeface="Cambria"/>
              </a:rPr>
              <a:t> </a:t>
            </a:r>
            <a:r>
              <a:rPr sz="1800" b="1" spc="-50" dirty="0">
                <a:latin typeface="Cambria"/>
                <a:cs typeface="Cambria"/>
              </a:rPr>
              <a:t>A</a:t>
            </a:r>
            <a:endParaRPr sz="1800" dirty="0">
              <a:latin typeface="Cambria"/>
              <a:cs typeface="Cambria"/>
            </a:endParaRPr>
          </a:p>
        </p:txBody>
      </p:sp>
      <p:sp>
        <p:nvSpPr>
          <p:cNvPr id="11" name="object 11"/>
          <p:cNvSpPr txBox="1"/>
          <p:nvPr/>
        </p:nvSpPr>
        <p:spPr>
          <a:xfrm>
            <a:off x="4156075" y="126198"/>
            <a:ext cx="2854960" cy="648335"/>
          </a:xfrm>
          <a:prstGeom prst="rect">
            <a:avLst/>
          </a:prstGeom>
        </p:spPr>
        <p:txBody>
          <a:bodyPr vert="horz" wrap="square" lIns="0" tIns="49530" rIns="0" bIns="0" rtlCol="0">
            <a:spAutoFit/>
          </a:bodyPr>
          <a:lstStyle/>
          <a:p>
            <a:pPr algn="ctr">
              <a:lnSpc>
                <a:spcPct val="100000"/>
              </a:lnSpc>
              <a:spcBef>
                <a:spcPts val="390"/>
              </a:spcBef>
            </a:pPr>
            <a:r>
              <a:rPr sz="1800" b="1" dirty="0">
                <a:solidFill>
                  <a:srgbClr val="17365D"/>
                </a:solidFill>
                <a:latin typeface="Cambria"/>
                <a:cs typeface="Cambria"/>
              </a:rPr>
              <a:t>CSE7101-</a:t>
            </a:r>
            <a:r>
              <a:rPr sz="1800" b="1" spc="-30" dirty="0">
                <a:solidFill>
                  <a:srgbClr val="17365D"/>
                </a:solidFill>
                <a:latin typeface="Cambria"/>
                <a:cs typeface="Cambria"/>
              </a:rPr>
              <a:t> </a:t>
            </a:r>
            <a:r>
              <a:rPr sz="1800" b="1" dirty="0">
                <a:solidFill>
                  <a:srgbClr val="17365D"/>
                </a:solidFill>
                <a:latin typeface="Cambria"/>
                <a:cs typeface="Cambria"/>
              </a:rPr>
              <a:t>Capstone</a:t>
            </a:r>
            <a:r>
              <a:rPr sz="1800" b="1" spc="-45" dirty="0">
                <a:solidFill>
                  <a:srgbClr val="17365D"/>
                </a:solidFill>
                <a:latin typeface="Cambria"/>
                <a:cs typeface="Cambria"/>
              </a:rPr>
              <a:t> </a:t>
            </a:r>
            <a:r>
              <a:rPr sz="1800" b="1" spc="-10" dirty="0">
                <a:solidFill>
                  <a:srgbClr val="17365D"/>
                </a:solidFill>
                <a:latin typeface="Cambria"/>
                <a:cs typeface="Cambria"/>
              </a:rPr>
              <a:t>Project</a:t>
            </a:r>
            <a:endParaRPr sz="1800">
              <a:latin typeface="Cambria"/>
              <a:cs typeface="Cambria"/>
            </a:endParaRPr>
          </a:p>
          <a:p>
            <a:pPr algn="ctr">
              <a:lnSpc>
                <a:spcPct val="100000"/>
              </a:lnSpc>
              <a:spcBef>
                <a:spcPts val="295"/>
              </a:spcBef>
            </a:pPr>
            <a:r>
              <a:rPr sz="1800" b="1" dirty="0">
                <a:solidFill>
                  <a:srgbClr val="17365D"/>
                </a:solidFill>
                <a:latin typeface="Cambria"/>
                <a:cs typeface="Cambria"/>
              </a:rPr>
              <a:t>Review-</a:t>
            </a:r>
            <a:r>
              <a:rPr sz="1800" b="1" spc="-50" dirty="0">
                <a:solidFill>
                  <a:srgbClr val="17365D"/>
                </a:solidFill>
                <a:latin typeface="Cambria"/>
                <a:cs typeface="Cambria"/>
              </a:rPr>
              <a:t>5</a:t>
            </a:r>
            <a:endParaRPr sz="1800">
              <a:latin typeface="Cambria"/>
              <a:cs typeface="Cambria"/>
            </a:endParaRPr>
          </a:p>
        </p:txBody>
      </p:sp>
      <p:graphicFrame>
        <p:nvGraphicFramePr>
          <p:cNvPr id="12" name="object 12"/>
          <p:cNvGraphicFramePr>
            <a:graphicFrameLocks noGrp="1"/>
          </p:cNvGraphicFramePr>
          <p:nvPr>
            <p:extLst>
              <p:ext uri="{D42A27DB-BD31-4B8C-83A1-F6EECF244321}">
                <p14:modId xmlns:p14="http://schemas.microsoft.com/office/powerpoint/2010/main" val="2479703965"/>
              </p:ext>
            </p:extLst>
          </p:nvPr>
        </p:nvGraphicFramePr>
        <p:xfrm>
          <a:off x="187960" y="2388870"/>
          <a:ext cx="5814060" cy="1875155"/>
        </p:xfrm>
        <a:graphic>
          <a:graphicData uri="http://schemas.openxmlformats.org/drawingml/2006/table">
            <a:tbl>
              <a:tblPr firstRow="1" bandRow="1">
                <a:tableStyleId>{2D5ABB26-0587-4C30-8999-92F81FD0307C}</a:tableStyleId>
              </a:tblPr>
              <a:tblGrid>
                <a:gridCol w="2907030">
                  <a:extLst>
                    <a:ext uri="{9D8B030D-6E8A-4147-A177-3AD203B41FA5}">
                      <a16:colId xmlns:a16="http://schemas.microsoft.com/office/drawing/2014/main" val="20000"/>
                    </a:ext>
                  </a:extLst>
                </a:gridCol>
                <a:gridCol w="2907030">
                  <a:extLst>
                    <a:ext uri="{9D8B030D-6E8A-4147-A177-3AD203B41FA5}">
                      <a16:colId xmlns:a16="http://schemas.microsoft.com/office/drawing/2014/main" val="20001"/>
                    </a:ext>
                  </a:extLst>
                </a:gridCol>
              </a:tblGrid>
              <a:tr h="468630">
                <a:tc>
                  <a:txBody>
                    <a:bodyPr/>
                    <a:lstStyle/>
                    <a:p>
                      <a:pPr marL="484505">
                        <a:lnSpc>
                          <a:spcPct val="100000"/>
                        </a:lnSpc>
                        <a:spcBef>
                          <a:spcPts val="330"/>
                        </a:spcBef>
                      </a:pPr>
                      <a:r>
                        <a:rPr sz="1600" b="1" dirty="0">
                          <a:solidFill>
                            <a:srgbClr val="FFFFFF"/>
                          </a:solidFill>
                          <a:latin typeface="Arial"/>
                          <a:cs typeface="Arial"/>
                        </a:rPr>
                        <a:t>Roll</a:t>
                      </a:r>
                      <a:r>
                        <a:rPr sz="1600" b="1" spc="-15" dirty="0">
                          <a:solidFill>
                            <a:srgbClr val="FFFFFF"/>
                          </a:solidFill>
                          <a:latin typeface="Arial"/>
                          <a:cs typeface="Arial"/>
                        </a:rPr>
                        <a:t> </a:t>
                      </a:r>
                      <a:r>
                        <a:rPr sz="1600" b="1" spc="-10" dirty="0">
                          <a:solidFill>
                            <a:srgbClr val="FFFFFF"/>
                          </a:solidFill>
                          <a:latin typeface="Arial"/>
                          <a:cs typeface="Arial"/>
                        </a:rPr>
                        <a:t>Number</a:t>
                      </a:r>
                      <a:endParaRPr sz="1600">
                        <a:latin typeface="Arial"/>
                        <a:cs typeface="Arial"/>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664845">
                        <a:lnSpc>
                          <a:spcPct val="100000"/>
                        </a:lnSpc>
                        <a:spcBef>
                          <a:spcPts val="330"/>
                        </a:spcBef>
                      </a:pPr>
                      <a:r>
                        <a:rPr sz="1600" b="1" dirty="0">
                          <a:solidFill>
                            <a:srgbClr val="FFFFFF"/>
                          </a:solidFill>
                          <a:latin typeface="Arial"/>
                          <a:cs typeface="Arial"/>
                        </a:rPr>
                        <a:t>Student</a:t>
                      </a:r>
                      <a:r>
                        <a:rPr sz="1600" b="1" spc="-65" dirty="0">
                          <a:solidFill>
                            <a:srgbClr val="FFFFFF"/>
                          </a:solidFill>
                          <a:latin typeface="Arial"/>
                          <a:cs typeface="Arial"/>
                        </a:rPr>
                        <a:t> </a:t>
                      </a:r>
                      <a:r>
                        <a:rPr sz="1600" b="1" spc="-20" dirty="0">
                          <a:solidFill>
                            <a:srgbClr val="FFFFFF"/>
                          </a:solidFill>
                          <a:latin typeface="Arial"/>
                          <a:cs typeface="Arial"/>
                        </a:rPr>
                        <a:t>Name</a:t>
                      </a:r>
                      <a:endParaRPr sz="1600">
                        <a:latin typeface="Arial"/>
                        <a:cs typeface="Arial"/>
                      </a:endParaRPr>
                    </a:p>
                  </a:txBody>
                  <a:tcPr marL="0" marR="0" marT="4191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468630">
                <a:tc>
                  <a:txBody>
                    <a:bodyPr/>
                    <a:lstStyle/>
                    <a:p>
                      <a:pPr marL="386715">
                        <a:lnSpc>
                          <a:spcPct val="100000"/>
                        </a:lnSpc>
                        <a:spcBef>
                          <a:spcPts val="340"/>
                        </a:spcBef>
                      </a:pPr>
                      <a:r>
                        <a:rPr sz="1400" spc="-10" dirty="0">
                          <a:latin typeface="Microsoft Sans Serif"/>
                          <a:cs typeface="Microsoft Sans Serif"/>
                        </a:rPr>
                        <a:t>20221ISE01</a:t>
                      </a:r>
                      <a:r>
                        <a:rPr lang="en-IN" sz="1400" spc="-10" dirty="0">
                          <a:latin typeface="Microsoft Sans Serif"/>
                          <a:cs typeface="Microsoft Sans Serif"/>
                        </a:rPr>
                        <a:t>62</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683260">
                        <a:lnSpc>
                          <a:spcPct val="100000"/>
                        </a:lnSpc>
                        <a:spcBef>
                          <a:spcPts val="340"/>
                        </a:spcBef>
                      </a:pPr>
                      <a:r>
                        <a:rPr lang="en-IN" sz="1400" dirty="0">
                          <a:latin typeface="Microsoft Sans Serif"/>
                          <a:cs typeface="Microsoft Sans Serif"/>
                        </a:rPr>
                        <a:t>Sindhu L Y</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468630">
                <a:tc>
                  <a:txBody>
                    <a:bodyPr/>
                    <a:lstStyle/>
                    <a:p>
                      <a:pPr marL="386715">
                        <a:lnSpc>
                          <a:spcPct val="100000"/>
                        </a:lnSpc>
                        <a:spcBef>
                          <a:spcPts val="340"/>
                        </a:spcBef>
                      </a:pPr>
                      <a:r>
                        <a:rPr sz="1400" spc="-10" dirty="0">
                          <a:latin typeface="Microsoft Sans Serif"/>
                          <a:cs typeface="Microsoft Sans Serif"/>
                        </a:rPr>
                        <a:t>20221ISE01</a:t>
                      </a:r>
                      <a:r>
                        <a:rPr lang="en-IN" sz="1400" spc="-10" dirty="0">
                          <a:latin typeface="Microsoft Sans Serif"/>
                          <a:cs typeface="Microsoft Sans Serif"/>
                        </a:rPr>
                        <a:t>71</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732155">
                        <a:lnSpc>
                          <a:spcPct val="100000"/>
                        </a:lnSpc>
                        <a:spcBef>
                          <a:spcPts val="340"/>
                        </a:spcBef>
                      </a:pPr>
                      <a:r>
                        <a:rPr lang="en-IN" sz="1400" dirty="0">
                          <a:latin typeface="Microsoft Sans Serif"/>
                          <a:cs typeface="Microsoft Sans Serif"/>
                        </a:rPr>
                        <a:t>Anusha M S</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469265">
                <a:tc>
                  <a:txBody>
                    <a:bodyPr/>
                    <a:lstStyle/>
                    <a:p>
                      <a:pPr marL="386715">
                        <a:lnSpc>
                          <a:spcPct val="100000"/>
                        </a:lnSpc>
                        <a:spcBef>
                          <a:spcPts val="340"/>
                        </a:spcBef>
                      </a:pPr>
                      <a:r>
                        <a:rPr sz="1400" spc="-10" dirty="0">
                          <a:latin typeface="Microsoft Sans Serif"/>
                          <a:cs typeface="Microsoft Sans Serif"/>
                        </a:rPr>
                        <a:t>202</a:t>
                      </a:r>
                      <a:r>
                        <a:rPr lang="en-IN" sz="1400" spc="-10" dirty="0">
                          <a:latin typeface="Microsoft Sans Serif"/>
                          <a:cs typeface="Microsoft Sans Serif"/>
                        </a:rPr>
                        <a:t>3</a:t>
                      </a:r>
                      <a:r>
                        <a:rPr sz="1400" spc="-10" dirty="0">
                          <a:latin typeface="Microsoft Sans Serif"/>
                          <a:cs typeface="Microsoft Sans Serif"/>
                        </a:rPr>
                        <a:t>1ISE</a:t>
                      </a:r>
                      <a:r>
                        <a:rPr lang="en-IN" sz="1400" spc="-10" dirty="0">
                          <a:latin typeface="Microsoft Sans Serif"/>
                          <a:cs typeface="Microsoft Sans Serif"/>
                        </a:rPr>
                        <a:t>3001</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582930">
                        <a:lnSpc>
                          <a:spcPct val="100000"/>
                        </a:lnSpc>
                        <a:spcBef>
                          <a:spcPts val="340"/>
                        </a:spcBef>
                      </a:pPr>
                      <a:r>
                        <a:rPr lang="en-IN" sz="1400" dirty="0">
                          <a:latin typeface="Microsoft Sans Serif"/>
                          <a:cs typeface="Microsoft Sans Serif"/>
                        </a:rPr>
                        <a:t>Kumar G K</a:t>
                      </a:r>
                      <a:endParaRPr sz="1400" dirty="0">
                        <a:latin typeface="Microsoft Sans Serif"/>
                        <a:cs typeface="Microsoft Sans Serif"/>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0428" rIns="0" bIns="0" rtlCol="0">
            <a:spAutoFit/>
          </a:bodyPr>
          <a:lstStyle/>
          <a:p>
            <a:pPr marL="12700">
              <a:lnSpc>
                <a:spcPct val="100000"/>
              </a:lnSpc>
              <a:spcBef>
                <a:spcPts val="105"/>
              </a:spcBef>
            </a:pPr>
            <a:r>
              <a:rPr spc="-10" dirty="0">
                <a:latin typeface="Verdana"/>
                <a:cs typeface="Verdana"/>
              </a:rPr>
              <a:t>Introduction</a:t>
            </a:r>
          </a:p>
        </p:txBody>
      </p:sp>
      <p:sp>
        <p:nvSpPr>
          <p:cNvPr id="3" name="object 3"/>
          <p:cNvSpPr txBox="1"/>
          <p:nvPr/>
        </p:nvSpPr>
        <p:spPr>
          <a:xfrm>
            <a:off x="1600199" y="1254074"/>
            <a:ext cx="8915401" cy="4551246"/>
          </a:xfrm>
          <a:prstGeom prst="rect">
            <a:avLst/>
          </a:prstGeom>
        </p:spPr>
        <p:txBody>
          <a:bodyPr vert="horz" wrap="square" lIns="0" tIns="72390" rIns="0" bIns="0"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This project is developed in response to </a:t>
            </a:r>
            <a:r>
              <a:rPr lang="en-US" sz="2000" b="1" dirty="0">
                <a:latin typeface="Times New Roman" panose="02020603050405020304" pitchFamily="18" charset="0"/>
                <a:cs typeface="Times New Roman" panose="02020603050405020304" pitchFamily="18" charset="0"/>
              </a:rPr>
              <a:t>SIH25034</a:t>
            </a:r>
            <a:r>
              <a:rPr lang="en-US" sz="2000" dirty="0">
                <a:latin typeface="Times New Roman" panose="02020603050405020304" pitchFamily="18" charset="0"/>
                <a:cs typeface="Times New Roman" panose="02020603050405020304" pitchFamily="18" charset="0"/>
              </a:rPr>
              <a:t> under the </a:t>
            </a:r>
            <a:r>
              <a:rPr lang="en-US" sz="2000" b="1" dirty="0">
                <a:latin typeface="Times New Roman" panose="02020603050405020304" pitchFamily="18" charset="0"/>
                <a:cs typeface="Times New Roman" panose="02020603050405020304" pitchFamily="18" charset="0"/>
              </a:rPr>
              <a:t>Smart India Hackathon</a:t>
            </a:r>
            <a:r>
              <a:rPr lang="en-US" sz="2000" dirty="0">
                <a:latin typeface="Times New Roman" panose="02020603050405020304" pitchFamily="18" charset="0"/>
                <a:cs typeface="Times New Roman" panose="02020603050405020304" pitchFamily="18" charset="0"/>
              </a:rPr>
              <a:t> and is aligned with </a:t>
            </a:r>
            <a:r>
              <a:rPr lang="en-US" sz="2000" b="1" dirty="0">
                <a:latin typeface="Times New Roman" panose="02020603050405020304" pitchFamily="18" charset="0"/>
                <a:cs typeface="Times New Roman" panose="02020603050405020304" pitchFamily="18" charset="0"/>
              </a:rPr>
              <a:t>Sustainable Development Goal 4 (SDG 4 – Quality Education)</a:t>
            </a:r>
            <a:r>
              <a:rPr lang="en-US" sz="2000" dirty="0">
                <a:latin typeface="Times New Roman" panose="02020603050405020304" pitchFamily="18" charset="0"/>
                <a:cs typeface="Times New Roman" panose="02020603050405020304" pitchFamily="18" charset="0"/>
              </a:rPr>
              <a:t>. The solution promotes inclusive and equitable access to experiential learning opportunities, enhances skill development, and supports lifelong learning by connecting students to internships that are most relevant to their learning outcomes and professional growth.</a:t>
            </a:r>
          </a:p>
          <a:p>
            <a:pPr>
              <a:lnSpc>
                <a:spcPct val="150000"/>
              </a:lnSpc>
            </a:pPr>
            <a:r>
              <a:rPr lang="en-US" sz="2000" dirty="0">
                <a:latin typeface="Times New Roman" panose="02020603050405020304" pitchFamily="18" charset="0"/>
                <a:cs typeface="Times New Roman" panose="02020603050405020304" pitchFamily="18" charset="0"/>
              </a:rPr>
              <a:t>By improving the quality of internship allocation and reducing skill mismatches, the proposed system contributes to better learning experiences, higher employability, and a stronger education-to-employment ecosystem in India</a:t>
            </a:r>
          </a:p>
          <a:p>
            <a:pPr marL="393700" marR="200660" indent="-381000" algn="just">
              <a:lnSpc>
                <a:spcPct val="80100"/>
              </a:lnSpc>
              <a:spcBef>
                <a:spcPts val="570"/>
              </a:spcBef>
              <a:buSzPct val="120000"/>
              <a:buFont typeface="Microsoft Sans Serif"/>
              <a:buChar char="•"/>
              <a:tabLst>
                <a:tab pos="393700" algn="l"/>
              </a:tabLst>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641" y="66497"/>
            <a:ext cx="6004559" cy="660489"/>
          </a:xfrm>
          <a:prstGeom prst="rect">
            <a:avLst/>
          </a:prstGeom>
        </p:spPr>
        <p:txBody>
          <a:bodyPr vert="horz" wrap="square" lIns="0" tIns="227381" rIns="0" bIns="0" rtlCol="0">
            <a:spAutoFit/>
          </a:bodyPr>
          <a:lstStyle/>
          <a:p>
            <a:pPr marL="12700">
              <a:lnSpc>
                <a:spcPct val="100000"/>
              </a:lnSpc>
              <a:spcBef>
                <a:spcPts val="105"/>
              </a:spcBef>
            </a:pPr>
            <a:r>
              <a:rPr dirty="0">
                <a:latin typeface="Arial"/>
                <a:cs typeface="Arial"/>
              </a:rPr>
              <a:t>Objectives</a:t>
            </a:r>
            <a:r>
              <a:rPr spc="-55" dirty="0">
                <a:latin typeface="Arial"/>
                <a:cs typeface="Arial"/>
              </a:rPr>
              <a:t> </a:t>
            </a:r>
            <a:endParaRPr spc="-20" dirty="0">
              <a:latin typeface="Arial"/>
              <a:cs typeface="Arial"/>
            </a:endParaRPr>
          </a:p>
        </p:txBody>
      </p:sp>
      <p:sp>
        <p:nvSpPr>
          <p:cNvPr id="3" name="object 3"/>
          <p:cNvSpPr txBox="1"/>
          <p:nvPr/>
        </p:nvSpPr>
        <p:spPr>
          <a:xfrm>
            <a:off x="891641" y="1143000"/>
            <a:ext cx="9744075" cy="3612336"/>
          </a:xfrm>
          <a:prstGeom prst="rect">
            <a:avLst/>
          </a:prstGeom>
        </p:spPr>
        <p:txBody>
          <a:bodyPr vert="horz" wrap="square" lIns="0" tIns="12700" rIns="0" bIns="0" rtlCol="0">
            <a:spAutoFit/>
          </a:bodyPr>
          <a:lstStyle/>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build an AI-based internship recommendation system </a:t>
            </a:r>
          </a:p>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analyze resumes and extract relevant skills </a:t>
            </a:r>
          </a:p>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match students with internships using intelligent models </a:t>
            </a:r>
          </a:p>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provide ranked and personalized recommendations </a:t>
            </a:r>
          </a:p>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perform skill gap analysis </a:t>
            </a:r>
          </a:p>
          <a:p>
            <a:pPr marL="342900" indent="-342900">
              <a:lnSpc>
                <a:spcPct val="200000"/>
              </a:lnSpc>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To improve employability and reduce mismatch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381" rIns="0" bIns="0" rtlCol="0">
            <a:spAutoFit/>
          </a:bodyPr>
          <a:lstStyle/>
          <a:p>
            <a:pPr marL="12700">
              <a:lnSpc>
                <a:spcPct val="100000"/>
              </a:lnSpc>
              <a:spcBef>
                <a:spcPts val="105"/>
              </a:spcBef>
            </a:pPr>
            <a:r>
              <a:rPr dirty="0"/>
              <a:t>Analysis</a:t>
            </a:r>
            <a:r>
              <a:rPr spc="-75" dirty="0"/>
              <a:t> </a:t>
            </a:r>
            <a:r>
              <a:rPr dirty="0"/>
              <a:t>of</a:t>
            </a:r>
            <a:r>
              <a:rPr spc="-35" dirty="0"/>
              <a:t> </a:t>
            </a:r>
            <a:r>
              <a:rPr dirty="0"/>
              <a:t>Problem</a:t>
            </a:r>
            <a:r>
              <a:rPr spc="-55" dirty="0"/>
              <a:t> </a:t>
            </a:r>
            <a:r>
              <a:rPr spc="-10" dirty="0"/>
              <a:t>Statement:</a:t>
            </a:r>
          </a:p>
        </p:txBody>
      </p:sp>
      <p:sp>
        <p:nvSpPr>
          <p:cNvPr id="3" name="object 3"/>
          <p:cNvSpPr txBox="1"/>
          <p:nvPr/>
        </p:nvSpPr>
        <p:spPr>
          <a:xfrm>
            <a:off x="887069" y="1254117"/>
            <a:ext cx="10363835" cy="4148572"/>
          </a:xfrm>
          <a:prstGeom prst="rect">
            <a:avLst/>
          </a:prstGeom>
        </p:spPr>
        <p:txBody>
          <a:bodyPr vert="horz" wrap="square" lIns="0" tIns="186690" rIns="0" bIns="0" rtlCol="0">
            <a:spAutoFit/>
          </a:bodyPr>
          <a:lstStyle/>
          <a:p>
            <a:pPr marL="12700" algn="just">
              <a:lnSpc>
                <a:spcPct val="100000"/>
              </a:lnSpc>
              <a:spcBef>
                <a:spcPts val="1470"/>
              </a:spcBef>
            </a:pPr>
            <a:r>
              <a:rPr sz="2100" b="1" dirty="0">
                <a:latin typeface="Cambria"/>
                <a:cs typeface="Cambria"/>
              </a:rPr>
              <a:t>Organization</a:t>
            </a:r>
            <a:r>
              <a:rPr sz="2100" dirty="0">
                <a:latin typeface="Cambria"/>
                <a:cs typeface="Cambria"/>
              </a:rPr>
              <a:t>:</a:t>
            </a:r>
            <a:r>
              <a:rPr sz="2100" spc="-80" dirty="0">
                <a:latin typeface="Cambria"/>
                <a:cs typeface="Cambria"/>
              </a:rPr>
              <a:t> </a:t>
            </a:r>
            <a:r>
              <a:rPr lang="en-IN" sz="2100" spc="-80" dirty="0">
                <a:latin typeface="Cambria"/>
                <a:cs typeface="Cambria"/>
              </a:rPr>
              <a:t>AICTC </a:t>
            </a:r>
            <a:endParaRPr sz="2100" dirty="0">
              <a:latin typeface="Cambria"/>
              <a:cs typeface="Cambria"/>
            </a:endParaRPr>
          </a:p>
          <a:p>
            <a:pPr marL="12700" algn="just">
              <a:lnSpc>
                <a:spcPct val="100000"/>
              </a:lnSpc>
              <a:spcBef>
                <a:spcPts val="1370"/>
              </a:spcBef>
            </a:pPr>
            <a:r>
              <a:rPr sz="2100" b="1" dirty="0">
                <a:latin typeface="Cambria"/>
                <a:cs typeface="Cambria"/>
              </a:rPr>
              <a:t>Category</a:t>
            </a:r>
            <a:r>
              <a:rPr sz="2100" b="1" spc="235" dirty="0">
                <a:latin typeface="Cambria"/>
                <a:cs typeface="Cambria"/>
              </a:rPr>
              <a:t> </a:t>
            </a:r>
            <a:r>
              <a:rPr sz="2100" b="1" dirty="0">
                <a:latin typeface="Cambria"/>
                <a:cs typeface="Cambria"/>
              </a:rPr>
              <a:t>:</a:t>
            </a:r>
            <a:r>
              <a:rPr sz="2100" b="1" spc="229" dirty="0">
                <a:latin typeface="Cambria"/>
                <a:cs typeface="Cambria"/>
              </a:rPr>
              <a:t> </a:t>
            </a:r>
            <a:r>
              <a:rPr sz="2100" b="1" dirty="0">
                <a:latin typeface="Cambria"/>
                <a:cs typeface="Cambria"/>
              </a:rPr>
              <a:t>Software</a:t>
            </a:r>
            <a:r>
              <a:rPr sz="2100" b="1" spc="235" dirty="0">
                <a:latin typeface="Cambria"/>
                <a:cs typeface="Cambria"/>
              </a:rPr>
              <a:t> </a:t>
            </a:r>
            <a:endParaRPr lang="en-IN" sz="2100" b="1" spc="235" dirty="0">
              <a:latin typeface="Cambria"/>
              <a:cs typeface="Cambria"/>
            </a:endParaRPr>
          </a:p>
          <a:p>
            <a:pPr marL="12700" algn="just">
              <a:lnSpc>
                <a:spcPct val="100000"/>
              </a:lnSpc>
              <a:spcBef>
                <a:spcPts val="1370"/>
              </a:spcBef>
            </a:pPr>
            <a:r>
              <a:rPr sz="2100" b="1" dirty="0">
                <a:latin typeface="Cambria"/>
                <a:cs typeface="Cambria"/>
              </a:rPr>
              <a:t>Problem</a:t>
            </a:r>
            <a:r>
              <a:rPr sz="2100" b="1" spc="114" dirty="0">
                <a:latin typeface="Cambria"/>
                <a:cs typeface="Cambria"/>
              </a:rPr>
              <a:t> </a:t>
            </a:r>
            <a:r>
              <a:rPr sz="2100" b="1" dirty="0">
                <a:latin typeface="Cambria"/>
                <a:cs typeface="Cambria"/>
              </a:rPr>
              <a:t>Description</a:t>
            </a:r>
            <a:r>
              <a:rPr sz="2100" b="1" spc="125" dirty="0">
                <a:latin typeface="Cambria"/>
                <a:cs typeface="Cambria"/>
              </a:rPr>
              <a:t> </a:t>
            </a:r>
            <a:r>
              <a:rPr sz="2100" dirty="0">
                <a:latin typeface="Cambria"/>
                <a:cs typeface="Cambria"/>
              </a:rPr>
              <a:t>:</a:t>
            </a:r>
            <a:r>
              <a:rPr sz="2100" spc="120" dirty="0">
                <a:latin typeface="Cambria"/>
                <a:cs typeface="Cambria"/>
              </a:rPr>
              <a:t> </a:t>
            </a:r>
            <a:r>
              <a:rPr lang="en-US" sz="2400" dirty="0"/>
              <a:t>The internship allocation process under the PM Internship Scheme is currently inefficient due to manual or rule-based approaches. With a large number of applicants, it becomes difficult to match students accurately with suitable internships. This leads to skill mismatch, lack of personalization, and unequal access to opportunities. The system fails to utilize available data effectively and is not scalable. Therefore, an AI-driven solution is required to provide fair, accurate, and data-driven internship recommendations.</a:t>
            </a:r>
            <a:endParaRPr sz="2100" dirty="0">
              <a:latin typeface="Cambria"/>
              <a:cs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6525" rIns="0" bIns="0" rtlCol="0">
            <a:spAutoFit/>
          </a:bodyPr>
          <a:lstStyle/>
          <a:p>
            <a:pPr marL="12700">
              <a:lnSpc>
                <a:spcPct val="100000"/>
              </a:lnSpc>
              <a:spcBef>
                <a:spcPts val="105"/>
              </a:spcBef>
            </a:pPr>
            <a:r>
              <a:rPr spc="-10" dirty="0">
                <a:latin typeface="Verdana"/>
                <a:cs typeface="Verdana"/>
              </a:rPr>
              <a:t>Methodology</a:t>
            </a:r>
          </a:p>
        </p:txBody>
      </p:sp>
      <p:sp>
        <p:nvSpPr>
          <p:cNvPr id="3" name="object 3"/>
          <p:cNvSpPr txBox="1"/>
          <p:nvPr/>
        </p:nvSpPr>
        <p:spPr>
          <a:xfrm>
            <a:off x="654202" y="1125727"/>
            <a:ext cx="11269345" cy="4124014"/>
          </a:xfrm>
          <a:prstGeom prst="rect">
            <a:avLst/>
          </a:prstGeom>
        </p:spPr>
        <p:txBody>
          <a:bodyPr vert="horz" wrap="square" lIns="0" tIns="11430" rIns="0" bIns="0"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uploads resume through a web application (React +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Resume is cleaned and preprocessed to extract text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Features are extracted using TF-IDF and Sentence-BERT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Text is converted into numerical vectors for processing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AI models (Cosine Similarity, GRU, Hybrid BERT+GRU) analyze the data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Resume is matched with internship dataset and similarity scores are calculated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Internships are ranked based on match scores </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Top recommendations and skill gap analysis are shown to the user </a:t>
            </a:r>
          </a:p>
          <a:p>
            <a:pPr marL="346075" indent="-342900">
              <a:lnSpc>
                <a:spcPct val="150000"/>
              </a:lnSpc>
              <a:spcBef>
                <a:spcPts val="90"/>
              </a:spcBef>
              <a:buSzPct val="95000"/>
              <a:buFont typeface="Arial" panose="020B0604020202020204" pitchFamily="34" charset="0"/>
              <a:buChar char="•"/>
              <a:tabLst>
                <a:tab pos="100330" algn="l"/>
              </a:tabLst>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0428" rIns="0" bIns="0" rtlCol="0">
            <a:spAutoFit/>
          </a:bodyPr>
          <a:lstStyle/>
          <a:p>
            <a:pPr marL="12700">
              <a:lnSpc>
                <a:spcPct val="100000"/>
              </a:lnSpc>
              <a:spcBef>
                <a:spcPts val="105"/>
              </a:spcBef>
            </a:pPr>
            <a:r>
              <a:rPr dirty="0">
                <a:latin typeface="Verdana"/>
                <a:cs typeface="Verdana"/>
              </a:rPr>
              <a:t>Expected</a:t>
            </a:r>
            <a:r>
              <a:rPr spc="-35" dirty="0">
                <a:latin typeface="Verdana"/>
                <a:cs typeface="Verdana"/>
              </a:rPr>
              <a:t> </a:t>
            </a:r>
            <a:r>
              <a:rPr spc="-10" dirty="0">
                <a:latin typeface="Verdana"/>
                <a:cs typeface="Verdana"/>
              </a:rPr>
              <a:t>Outcomes</a:t>
            </a:r>
          </a:p>
        </p:txBody>
      </p:sp>
      <p:sp>
        <p:nvSpPr>
          <p:cNvPr id="3" name="object 3"/>
          <p:cNvSpPr txBox="1"/>
          <p:nvPr/>
        </p:nvSpPr>
        <p:spPr>
          <a:xfrm flipV="1">
            <a:off x="2569870" y="4222751"/>
            <a:ext cx="6353254" cy="45719"/>
          </a:xfrm>
          <a:prstGeom prst="rect">
            <a:avLst/>
          </a:prstGeom>
        </p:spPr>
        <p:txBody>
          <a:bodyPr vert="horz" wrap="square" lIns="0" tIns="12700" rIns="0" bIns="0" rtlCol="0">
            <a:spAutoFit/>
          </a:bodyPr>
          <a:lstStyle/>
          <a:p>
            <a:pPr marL="91440" indent="-88900">
              <a:lnSpc>
                <a:spcPct val="100000"/>
              </a:lnSpc>
              <a:spcBef>
                <a:spcPts val="100"/>
              </a:spcBef>
              <a:buSzPct val="94444"/>
              <a:buChar char="•"/>
              <a:tabLst>
                <a:tab pos="91440" algn="l"/>
              </a:tabLst>
            </a:pPr>
            <a:endParaRPr sz="1800" dirty="0">
              <a:latin typeface="Microsoft Sans Serif"/>
              <a:cs typeface="Microsoft Sans Serif"/>
            </a:endParaRPr>
          </a:p>
        </p:txBody>
      </p:sp>
      <p:sp>
        <p:nvSpPr>
          <p:cNvPr id="6" name="Rectangle 3">
            <a:extLst>
              <a:ext uri="{FF2B5EF4-FFF2-40B4-BE49-F238E27FC236}">
                <a16:creationId xmlns:a16="http://schemas.microsoft.com/office/drawing/2014/main" id="{482DF17F-7836-3D6B-67AC-F57BD1ED2FE7}"/>
              </a:ext>
            </a:extLst>
          </p:cNvPr>
          <p:cNvSpPr>
            <a:spLocks noChangeArrowheads="1"/>
          </p:cNvSpPr>
          <p:nvPr/>
        </p:nvSpPr>
        <p:spPr bwMode="auto">
          <a:xfrm>
            <a:off x="1447800" y="609111"/>
            <a:ext cx="9982200"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internship recommendations for each user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Ranked list of internships based on match score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Display of internship details (role, company, stipend, location)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Match percentage showing relevance between resume and job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Extracted skills and keywords from the resume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Skill gap analysis highlighting missing skills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Suggestions to improve profile for better opportunities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and accurate recommendation results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641" y="66497"/>
            <a:ext cx="6004559" cy="669722"/>
          </a:xfrm>
          <a:prstGeom prst="rect">
            <a:avLst/>
          </a:prstGeom>
        </p:spPr>
        <p:txBody>
          <a:bodyPr vert="horz" wrap="square" lIns="0" tIns="236525" rIns="0" bIns="0" rtlCol="0">
            <a:spAutoFit/>
          </a:bodyPr>
          <a:lstStyle/>
          <a:p>
            <a:pPr marL="12700">
              <a:lnSpc>
                <a:spcPct val="100000"/>
              </a:lnSpc>
              <a:spcBef>
                <a:spcPts val="105"/>
              </a:spcBef>
            </a:pPr>
            <a:r>
              <a:rPr spc="-40" dirty="0">
                <a:latin typeface="Verdana"/>
                <a:cs typeface="Verdana"/>
              </a:rPr>
              <a:t> </a:t>
            </a:r>
            <a:r>
              <a:rPr spc="-10" dirty="0">
                <a:latin typeface="Verdana"/>
                <a:cs typeface="Verdana"/>
              </a:rPr>
              <a:t>Impact</a:t>
            </a:r>
          </a:p>
        </p:txBody>
      </p:sp>
      <p:sp>
        <p:nvSpPr>
          <p:cNvPr id="5" name="Rectangle 2">
            <a:extLst>
              <a:ext uri="{FF2B5EF4-FFF2-40B4-BE49-F238E27FC236}">
                <a16:creationId xmlns:a16="http://schemas.microsoft.com/office/drawing/2014/main" id="{115F6975-800D-ACD6-F9D9-08D569D881ED}"/>
              </a:ext>
            </a:extLst>
          </p:cNvPr>
          <p:cNvSpPr>
            <a:spLocks noChangeArrowheads="1"/>
          </p:cNvSpPr>
          <p:nvPr/>
        </p:nvSpPr>
        <p:spPr bwMode="auto">
          <a:xfrm>
            <a:off x="990600" y="1217355"/>
            <a:ext cx="9296400"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internship selection through personalized recommendations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skill mismatch between students and industry requirements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Saves time by automating the internship search process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student employability and career readiness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fair and unbiased opportunity distribution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large-scale implementation for government schemes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Promotes skill development through gap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Contributes to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SDG 4 – Quality Education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09676" rIns="0" bIns="0" rtlCol="0">
            <a:spAutoFit/>
          </a:bodyPr>
          <a:lstStyle/>
          <a:p>
            <a:pPr marL="165100">
              <a:lnSpc>
                <a:spcPct val="100000"/>
              </a:lnSpc>
              <a:spcBef>
                <a:spcPts val="105"/>
              </a:spcBef>
            </a:pPr>
            <a:r>
              <a:rPr dirty="0"/>
              <a:t>Github</a:t>
            </a:r>
            <a:r>
              <a:rPr spc="-40" dirty="0"/>
              <a:t> </a:t>
            </a:r>
            <a:r>
              <a:rPr spc="-20" dirty="0"/>
              <a:t>Link</a:t>
            </a:r>
          </a:p>
        </p:txBody>
      </p:sp>
      <p:sp>
        <p:nvSpPr>
          <p:cNvPr id="3" name="object 3"/>
          <p:cNvSpPr txBox="1"/>
          <p:nvPr/>
        </p:nvSpPr>
        <p:spPr>
          <a:xfrm>
            <a:off x="1044346" y="1167206"/>
            <a:ext cx="9798685" cy="1502976"/>
          </a:xfrm>
          <a:prstGeom prst="rect">
            <a:avLst/>
          </a:prstGeom>
        </p:spPr>
        <p:txBody>
          <a:bodyPr vert="horz" wrap="square" lIns="0" tIns="12700" rIns="0" bIns="0" rtlCol="0">
            <a:spAutoFit/>
          </a:bodyPr>
          <a:lstStyle/>
          <a:p>
            <a:pPr marL="12700">
              <a:lnSpc>
                <a:spcPct val="100000"/>
              </a:lnSpc>
              <a:spcBef>
                <a:spcPts val="100"/>
              </a:spcBef>
            </a:pPr>
            <a:r>
              <a:rPr sz="2400" dirty="0">
                <a:latin typeface="Cambria"/>
                <a:cs typeface="Cambria"/>
              </a:rPr>
              <a:t>The</a:t>
            </a:r>
            <a:r>
              <a:rPr sz="2400" spc="-60" dirty="0">
                <a:latin typeface="Cambria"/>
                <a:cs typeface="Cambria"/>
              </a:rPr>
              <a:t> </a:t>
            </a:r>
            <a:r>
              <a:rPr sz="2400" dirty="0">
                <a:latin typeface="Cambria"/>
                <a:cs typeface="Cambria"/>
              </a:rPr>
              <a:t>Github</a:t>
            </a:r>
            <a:r>
              <a:rPr sz="2400" spc="-45" dirty="0">
                <a:latin typeface="Cambria"/>
                <a:cs typeface="Cambria"/>
              </a:rPr>
              <a:t> </a:t>
            </a:r>
            <a:r>
              <a:rPr sz="2400" dirty="0">
                <a:latin typeface="Cambria"/>
                <a:cs typeface="Cambria"/>
              </a:rPr>
              <a:t>link</a:t>
            </a:r>
            <a:r>
              <a:rPr sz="2400" spc="-65" dirty="0">
                <a:latin typeface="Cambria"/>
                <a:cs typeface="Cambria"/>
              </a:rPr>
              <a:t> </a:t>
            </a:r>
            <a:r>
              <a:rPr sz="2400" dirty="0">
                <a:latin typeface="Cambria"/>
                <a:cs typeface="Cambria"/>
              </a:rPr>
              <a:t>provided</a:t>
            </a:r>
            <a:r>
              <a:rPr sz="2400" spc="-35" dirty="0">
                <a:latin typeface="Cambria"/>
                <a:cs typeface="Cambria"/>
              </a:rPr>
              <a:t> </a:t>
            </a:r>
            <a:r>
              <a:rPr sz="2400" dirty="0">
                <a:latin typeface="Cambria"/>
                <a:cs typeface="Cambria"/>
              </a:rPr>
              <a:t>should</a:t>
            </a:r>
            <a:r>
              <a:rPr sz="2400" spc="-20" dirty="0">
                <a:latin typeface="Cambria"/>
                <a:cs typeface="Cambria"/>
              </a:rPr>
              <a:t> </a:t>
            </a:r>
            <a:r>
              <a:rPr sz="2400" dirty="0">
                <a:latin typeface="Cambria"/>
                <a:cs typeface="Cambria"/>
              </a:rPr>
              <a:t>have</a:t>
            </a:r>
            <a:r>
              <a:rPr sz="2400" spc="-50" dirty="0">
                <a:latin typeface="Cambria"/>
                <a:cs typeface="Cambria"/>
              </a:rPr>
              <a:t> </a:t>
            </a:r>
            <a:r>
              <a:rPr sz="2400" dirty="0">
                <a:latin typeface="Cambria"/>
                <a:cs typeface="Cambria"/>
              </a:rPr>
              <a:t>public</a:t>
            </a:r>
            <a:r>
              <a:rPr sz="2400" spc="-55" dirty="0">
                <a:latin typeface="Cambria"/>
                <a:cs typeface="Cambria"/>
              </a:rPr>
              <a:t> </a:t>
            </a:r>
            <a:r>
              <a:rPr sz="2400" dirty="0">
                <a:latin typeface="Cambria"/>
                <a:cs typeface="Cambria"/>
              </a:rPr>
              <a:t>access</a:t>
            </a:r>
            <a:r>
              <a:rPr sz="2400" spc="-60" dirty="0">
                <a:latin typeface="Cambria"/>
                <a:cs typeface="Cambria"/>
              </a:rPr>
              <a:t> </a:t>
            </a:r>
            <a:r>
              <a:rPr sz="2400" spc="-10" dirty="0">
                <a:latin typeface="Cambria"/>
                <a:cs typeface="Cambria"/>
              </a:rPr>
              <a:t>permission.</a:t>
            </a:r>
            <a:endParaRPr sz="2400" dirty="0">
              <a:latin typeface="Cambria"/>
              <a:cs typeface="Cambria"/>
            </a:endParaRPr>
          </a:p>
          <a:p>
            <a:pPr>
              <a:lnSpc>
                <a:spcPct val="100000"/>
              </a:lnSpc>
              <a:spcBef>
                <a:spcPts val="70"/>
              </a:spcBef>
            </a:pPr>
            <a:endParaRPr sz="2400" dirty="0">
              <a:latin typeface="Cambria"/>
              <a:cs typeface="Cambria"/>
            </a:endParaRPr>
          </a:p>
          <a:p>
            <a:pPr marL="12700">
              <a:lnSpc>
                <a:spcPct val="100000"/>
              </a:lnSpc>
            </a:pPr>
            <a:r>
              <a:rPr sz="2400" b="1" dirty="0">
                <a:solidFill>
                  <a:srgbClr val="943735"/>
                </a:solidFill>
                <a:latin typeface="Cambria"/>
                <a:cs typeface="Cambria"/>
              </a:rPr>
              <a:t>Github</a:t>
            </a:r>
            <a:r>
              <a:rPr sz="2400" b="1" spc="-50" dirty="0">
                <a:solidFill>
                  <a:srgbClr val="943735"/>
                </a:solidFill>
                <a:latin typeface="Cambria"/>
                <a:cs typeface="Cambria"/>
              </a:rPr>
              <a:t> </a:t>
            </a:r>
            <a:r>
              <a:rPr sz="2400" b="1" spc="-10" dirty="0">
                <a:solidFill>
                  <a:srgbClr val="943735"/>
                </a:solidFill>
                <a:latin typeface="Cambria"/>
                <a:cs typeface="Cambria"/>
              </a:rPr>
              <a:t>Link:</a:t>
            </a:r>
            <a:r>
              <a:rPr lang="en-IN" sz="2400" b="1" spc="-10" dirty="0">
                <a:solidFill>
                  <a:srgbClr val="4F81BC"/>
                </a:solidFill>
                <a:latin typeface="Cambria"/>
                <a:cs typeface="Cambria"/>
              </a:rPr>
              <a:t>https://github.com/910862KUMAR/AI-Internship-Recommendation-System</a:t>
            </a:r>
            <a:endParaRPr sz="2400" dirty="0">
              <a:latin typeface="Cambria"/>
              <a:cs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pPr>
            <a:r>
              <a:rPr dirty="0"/>
              <a:t>Architecture</a:t>
            </a:r>
            <a:r>
              <a:rPr spc="-75" dirty="0"/>
              <a:t> </a:t>
            </a:r>
            <a:r>
              <a:rPr spc="-10" dirty="0"/>
              <a:t>Diagram:</a:t>
            </a:r>
          </a:p>
        </p:txBody>
      </p:sp>
      <p:pic>
        <p:nvPicPr>
          <p:cNvPr id="6" name="Picture 5">
            <a:extLst>
              <a:ext uri="{FF2B5EF4-FFF2-40B4-BE49-F238E27FC236}">
                <a16:creationId xmlns:a16="http://schemas.microsoft.com/office/drawing/2014/main" id="{88DD118D-4A33-1F31-F923-0EA8C94AE8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1" y="1371600"/>
            <a:ext cx="8534400" cy="411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381" rIns="0" bIns="0" rtlCol="0">
            <a:spAutoFit/>
          </a:bodyPr>
          <a:lstStyle/>
          <a:p>
            <a:pPr marL="12700">
              <a:lnSpc>
                <a:spcPct val="100000"/>
              </a:lnSpc>
              <a:spcBef>
                <a:spcPts val="105"/>
              </a:spcBef>
            </a:pPr>
            <a:r>
              <a:rPr dirty="0"/>
              <a:t>Timeline</a:t>
            </a:r>
            <a:r>
              <a:rPr spc="-70" dirty="0"/>
              <a:t> </a:t>
            </a:r>
            <a:r>
              <a:rPr dirty="0"/>
              <a:t>of</a:t>
            </a:r>
            <a:r>
              <a:rPr spc="-20" dirty="0"/>
              <a:t> </a:t>
            </a:r>
            <a:r>
              <a:rPr dirty="0"/>
              <a:t>the</a:t>
            </a:r>
            <a:r>
              <a:rPr spc="-5" dirty="0"/>
              <a:t> </a:t>
            </a:r>
            <a:r>
              <a:rPr dirty="0"/>
              <a:t>Project</a:t>
            </a:r>
            <a:r>
              <a:rPr spc="-35" dirty="0"/>
              <a:t> </a:t>
            </a:r>
            <a:r>
              <a:rPr dirty="0"/>
              <a:t>(Gantt</a:t>
            </a:r>
            <a:r>
              <a:rPr spc="-55" dirty="0"/>
              <a:t> </a:t>
            </a:r>
            <a:r>
              <a:rPr spc="-10" dirty="0"/>
              <a:t>Chart)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6525" rIns="0" bIns="0" rtlCol="0">
            <a:spAutoFit/>
          </a:bodyPr>
          <a:lstStyle/>
          <a:p>
            <a:pPr marL="12700">
              <a:lnSpc>
                <a:spcPct val="100000"/>
              </a:lnSpc>
              <a:spcBef>
                <a:spcPts val="105"/>
              </a:spcBef>
            </a:pPr>
            <a:r>
              <a:rPr spc="-10" dirty="0">
                <a:latin typeface="Verdana"/>
                <a:cs typeface="Verdana"/>
              </a:rPr>
              <a:t>Conclusion</a:t>
            </a:r>
          </a:p>
        </p:txBody>
      </p:sp>
      <p:sp>
        <p:nvSpPr>
          <p:cNvPr id="3" name="object 3"/>
          <p:cNvSpPr txBox="1"/>
          <p:nvPr/>
        </p:nvSpPr>
        <p:spPr>
          <a:xfrm>
            <a:off x="990600" y="1209878"/>
            <a:ext cx="9753600" cy="2726837"/>
          </a:xfrm>
          <a:prstGeom prst="rect">
            <a:avLst/>
          </a:prstGeom>
        </p:spPr>
        <p:txBody>
          <a:bodyPr vert="horz" wrap="square" lIns="0" tIns="12065" rIns="0" bIns="0" rtlCol="0">
            <a:spAutoFit/>
          </a:bodyPr>
          <a:lstStyle/>
          <a:p>
            <a:pPr marL="12700" algn="just">
              <a:lnSpc>
                <a:spcPct val="150000"/>
              </a:lnSpc>
              <a:spcBef>
                <a:spcPts val="95"/>
              </a:spcBef>
              <a:buSzPct val="120000"/>
              <a:tabLst>
                <a:tab pos="393700" algn="l"/>
              </a:tabLst>
            </a:pPr>
            <a:r>
              <a:rPr lang="en-US" sz="2000" dirty="0">
                <a:latin typeface="Times New Roman" panose="02020603050405020304" pitchFamily="18" charset="0"/>
                <a:cs typeface="Times New Roman" panose="02020603050405020304" pitchFamily="18" charset="0"/>
              </a:rPr>
              <a:t>The AI-Based Internship Recommendation Engine provides an efficient and intelligent solution for internship allocation by using machine learning techniques for accurate skill-based matching. It reduces manual effort, minimizes skill mismatch, and delivers personalized recommendations to students. The system enhances employability, ensures fairness, and supports large-scale implementation. Overall, it demonstrates the effectiveness of AI in improving internship selection and aligns with </a:t>
            </a:r>
            <a:r>
              <a:rPr lang="en-US" sz="2000" b="1" dirty="0">
                <a:latin typeface="Times New Roman" panose="02020603050405020304" pitchFamily="18" charset="0"/>
                <a:cs typeface="Times New Roman" panose="02020603050405020304" pitchFamily="18" charset="0"/>
              </a:rPr>
              <a:t>SDG 4 – Quality Education</a:t>
            </a:r>
            <a:r>
              <a:rPr lang="en-US" sz="2000"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7381" rIns="0" bIns="0" rtlCol="0">
            <a:spAutoFit/>
          </a:bodyPr>
          <a:lstStyle/>
          <a:p>
            <a:pPr marL="12700">
              <a:lnSpc>
                <a:spcPct val="100000"/>
              </a:lnSpc>
              <a:spcBef>
                <a:spcPts val="105"/>
              </a:spcBef>
            </a:pPr>
            <a:r>
              <a:rPr dirty="0"/>
              <a:t>References</a:t>
            </a:r>
            <a:r>
              <a:rPr spc="-35" dirty="0"/>
              <a:t> </a:t>
            </a:r>
            <a:r>
              <a:rPr dirty="0"/>
              <a:t>(IEEE</a:t>
            </a:r>
            <a:r>
              <a:rPr spc="-75" dirty="0"/>
              <a:t> </a:t>
            </a:r>
            <a:r>
              <a:rPr dirty="0"/>
              <a:t>Paper</a:t>
            </a:r>
            <a:r>
              <a:rPr spc="-30" dirty="0"/>
              <a:t> </a:t>
            </a:r>
            <a:r>
              <a:rPr spc="-10" dirty="0"/>
              <a:t>format)</a:t>
            </a:r>
          </a:p>
        </p:txBody>
      </p:sp>
      <p:sp>
        <p:nvSpPr>
          <p:cNvPr id="3" name="object 3"/>
          <p:cNvSpPr txBox="1">
            <a:spLocks noGrp="1"/>
          </p:cNvSpPr>
          <p:nvPr>
            <p:ph type="body" idx="1"/>
          </p:nvPr>
        </p:nvSpPr>
        <p:spPr>
          <a:xfrm>
            <a:off x="990600" y="1066801"/>
            <a:ext cx="10439400" cy="5496826"/>
          </a:xfrm>
          <a:prstGeom prst="rect">
            <a:avLst/>
          </a:prstGeom>
        </p:spPr>
        <p:txBody>
          <a:bodyPr vert="horz" wrap="square" lIns="0" tIns="12065" rIns="0" bIns="0" rtlCol="0">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[1] John A. Smith and Rajesh Kumar, "Resume Classification Using Machine Learning Techniques," </a:t>
            </a:r>
            <a:r>
              <a:rPr lang="en-US" sz="2000" i="1" dirty="0">
                <a:latin typeface="Times New Roman" panose="02020603050405020304" pitchFamily="18" charset="0"/>
                <a:cs typeface="Times New Roman" panose="02020603050405020304" pitchFamily="18" charset="0"/>
              </a:rPr>
              <a:t>IEEE Access</a:t>
            </a:r>
            <a:r>
              <a:rPr lang="en-US" sz="2000" dirty="0">
                <a:latin typeface="Times New Roman" panose="02020603050405020304" pitchFamily="18" charset="0"/>
                <a:cs typeface="Times New Roman" panose="02020603050405020304" pitchFamily="18" charset="0"/>
              </a:rPr>
              <a:t>, vol. 7, no. 1, pp. 14523–14535, Jan. 2019.</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[2] Andrew Brown, Li Chen, and Michael Davis, "Natural Language Processing–Based Job Recommendation Systems," </a:t>
            </a:r>
            <a:r>
              <a:rPr lang="en-US" sz="2000" i="1" dirty="0">
                <a:latin typeface="Times New Roman" panose="02020603050405020304" pitchFamily="18" charset="0"/>
                <a:cs typeface="Times New Roman" panose="02020603050405020304" pitchFamily="18" charset="0"/>
              </a:rPr>
              <a:t>Expert Systems with Applications</a:t>
            </a:r>
            <a:r>
              <a:rPr lang="en-US" sz="2000" dirty="0">
                <a:latin typeface="Times New Roman" panose="02020603050405020304" pitchFamily="18" charset="0"/>
                <a:cs typeface="Times New Roman" panose="02020603050405020304" pitchFamily="18" charset="0"/>
              </a:rPr>
              <a:t>, vol. 145, no. 3, pp. 113104, Mar. 2020.</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[3] Liang Wang and Hao Zhao, "Semantic Text Matching Using Bidirectional Encoder Representations from Transformers," in </a:t>
            </a:r>
            <a:r>
              <a:rPr lang="en-US" sz="2000" i="1" dirty="0">
                <a:latin typeface="Times New Roman" panose="02020603050405020304" pitchFamily="18" charset="0"/>
                <a:cs typeface="Times New Roman" panose="02020603050405020304" pitchFamily="18" charset="0"/>
              </a:rPr>
              <a:t>Proceedings of the 58th Annual Meeting of the Association for Computational Linguistics (ACL)</a:t>
            </a:r>
            <a:r>
              <a:rPr lang="en-US" sz="2000" dirty="0">
                <a:latin typeface="Times New Roman" panose="02020603050405020304" pitchFamily="18" charset="0"/>
                <a:cs typeface="Times New Roman" panose="02020603050405020304" pitchFamily="18" charset="0"/>
              </a:rPr>
              <a:t>, pp. 1234–1244, Jul. 2020.</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[4] Priya Gupta and Sandeep Mehta, "Automated Resume Screening Using Deep Neural Networks," </a:t>
            </a:r>
            <a:r>
              <a:rPr lang="en-US" sz="2000" i="1" dirty="0">
                <a:latin typeface="Times New Roman" panose="02020603050405020304" pitchFamily="18" charset="0"/>
                <a:cs typeface="Times New Roman" panose="02020603050405020304" pitchFamily="18" charset="0"/>
              </a:rPr>
              <a:t>Springer Lecture Notes in Computer Science</a:t>
            </a:r>
            <a:r>
              <a:rPr lang="en-US" sz="2000" dirty="0">
                <a:latin typeface="Times New Roman" panose="02020603050405020304" pitchFamily="18" charset="0"/>
                <a:cs typeface="Times New Roman" panose="02020603050405020304" pitchFamily="18" charset="0"/>
              </a:rPr>
              <a:t>, vol. 12654, pp. 210–221, 2021.</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[5] Mingyu Chen, Qiang Li, and Robert Thompson, "Transformer-Based Text Embeddings for Intelligent Recommendation," </a:t>
            </a:r>
            <a:r>
              <a:rPr lang="en-US" sz="2000" i="1" dirty="0">
                <a:latin typeface="Times New Roman" panose="02020603050405020304" pitchFamily="18" charset="0"/>
                <a:cs typeface="Times New Roman" panose="02020603050405020304" pitchFamily="18" charset="0"/>
              </a:rPr>
              <a:t>IEEE Transactions on Artificial Intelligence</a:t>
            </a:r>
            <a:r>
              <a:rPr lang="en-US" sz="2000" dirty="0">
                <a:latin typeface="Times New Roman" panose="02020603050405020304" pitchFamily="18" charset="0"/>
                <a:cs typeface="Times New Roman" panose="02020603050405020304" pitchFamily="18" charset="0"/>
              </a:rPr>
              <a:t>, vol. 2, no. 4, pp. 345–356, Dec. 2021.</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4320" y="1441703"/>
            <a:ext cx="3892296" cy="393496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TotalTime>
  <Words>883</Words>
  <Application>Microsoft Office PowerPoint</Application>
  <PresentationFormat>Widescreen</PresentationFormat>
  <Paragraphs>86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Cambria</vt:lpstr>
      <vt:lpstr>Courier New</vt:lpstr>
      <vt:lpstr>Microsoft Sans Serif</vt:lpstr>
      <vt:lpstr>Times New Roman</vt:lpstr>
      <vt:lpstr>Verdana</vt:lpstr>
      <vt:lpstr>Office Theme</vt:lpstr>
      <vt:lpstr>Al-Based Internship Recommendation Engine for PM            Internship Scheme </vt:lpstr>
      <vt:lpstr>Introduction</vt:lpstr>
      <vt:lpstr>Objectives </vt:lpstr>
      <vt:lpstr>Analysis of Problem Statement:</vt:lpstr>
      <vt:lpstr>Methodology</vt:lpstr>
      <vt:lpstr>Expected Outcomes</vt:lpstr>
      <vt:lpstr> Impact</vt:lpstr>
      <vt:lpstr>Github Link</vt:lpstr>
      <vt:lpstr>Architecture Diagram:</vt:lpstr>
      <vt:lpstr>Timeline of the Project (Gantt Chart)</vt:lpstr>
      <vt:lpstr>Conclusion</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Sindhu LY</cp:lastModifiedBy>
  <cp:revision>11</cp:revision>
  <dcterms:created xsi:type="dcterms:W3CDTF">2026-04-21T16:26:29Z</dcterms:created>
  <dcterms:modified xsi:type="dcterms:W3CDTF">2026-04-21T17:05:48Z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2025-12-02T00:00:00Z</vt:filetime>
  </property>
  <property fmtid="{D5CDD505-2E9C-101B-9397-08002B2CF9AE}" pid="3" name="Creator">
    <vt:lpwstr>Microsoft® PowerPoint® 2016</vt:lpwstr>
  </property>
  <property fmtid="{D5CDD505-2E9C-101B-9397-08002B2CF9AE}" pid="4" name="LastSaved">
    <vt:filetime>2026-04-21T00:00:00Z</vt:filetime>
  </property>
  <property fmtid="{D5CDD505-2E9C-101B-9397-08002B2CF9AE}" pid="5" name="Producer">
    <vt:lpwstr>www.ilovepdf.com</vt:lpwstr>
  </property>
</Properties>
</file>